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60000" y="300000"/>
            <a:ext cx="4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007980"/>
                </a:solidFill>
              </a:rPr>
              <a:t>NATURE PRESUBMISSION BRIEFING</a:t>
            </a:r>
            <a:endParaRPr lang="en-US" sz="1000"/>
          </a:p>
        </p:txBody>
      </p:sp>
      <p:sp>
        <p:nvSpPr>
          <p:cNvPr id="11" name="Text 11"/>
          <p:cNvSpPr txBox="1"/>
          <p:nvPr/>
        </p:nvSpPr>
        <p:spPr>
          <a:xfrm>
            <a:off x="560000" y="620000"/>
            <a:ext cx="7700000" cy="7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600" b="1">
                <a:solidFill>
                  <a:srgbClr val="1C2B3A"/>
                </a:solidFill>
              </a:rPr>
              <a:t>UOGTO: an evidence-grade ontology for game-theoretic systems</a:t>
            </a:r>
            <a:endParaRPr lang="en-US" sz="2600"/>
          </a:p>
        </p:txBody>
      </p:sp>
      <p:sp>
        <p:nvSpPr>
          <p:cNvPr id="12" name="Text 12"/>
          <p:cNvSpPr txBox="1"/>
          <p:nvPr/>
        </p:nvSpPr>
        <p:spPr>
          <a:xfrm>
            <a:off x="600000" y="1400000"/>
            <a:ext cx="61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5C6570"/>
                </a:solidFill>
              </a:rPr>
              <a:t>A modular semantic layer links games, mechanisms, simulations, traces, evidence, and reusable publication artifacts.</a:t>
            </a:r>
            <a:endParaRPr lang="en-US" sz="1400"/>
          </a:p>
        </p:txBody>
      </p:sp>
      <p:sp>
        <p:nvSpPr>
          <p:cNvPr id="13" name="Text 13"/>
          <p:cNvSpPr txBox="1"/>
          <p:nvPr/>
        </p:nvSpPr>
        <p:spPr>
          <a:xfrm>
            <a:off x="11000000" y="3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5C6570"/>
                </a:solidFill>
              </a:rPr>
              <a:t>01/08</a:t>
            </a:r>
            <a:endParaRPr lang="en-US" sz="1000"/>
          </a:p>
        </p:txBody>
      </p:sp>
      <p:sp>
        <p:nvSpPr>
          <p:cNvPr id="14" name="Box 14"/>
          <p:cNvSpPr/>
          <p:nvPr/>
        </p:nvSpPr>
        <p:spPr>
          <a:xfrm>
            <a:off x="620000" y="220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50000" y="217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Core claim: reusable semantics for strategic and executable systems</a:t>
            </a:r>
            <a:endParaRPr lang="en-US" sz="1350"/>
          </a:p>
        </p:txBody>
      </p:sp>
      <p:sp>
        <p:nvSpPr>
          <p:cNvPr id="16" name="Box 16"/>
          <p:cNvSpPr/>
          <p:nvPr/>
        </p:nvSpPr>
        <p:spPr>
          <a:xfrm>
            <a:off x="620000" y="292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50000" y="289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Evidence posture: conservative mappings, validated examples, auditable source register</a:t>
            </a:r>
            <a:endParaRPr lang="en-US" sz="1350"/>
          </a:p>
        </p:txBody>
      </p:sp>
      <p:sp>
        <p:nvSpPr>
          <p:cNvPr id="18" name="Box 18"/>
          <p:cNvSpPr/>
          <p:nvPr/>
        </p:nvSpPr>
        <p:spPr>
          <a:xfrm>
            <a:off x="620000" y="364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50000" y="361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Decision ask: proceed after final figures, supplement prose, privacy audit, and deck polish</a:t>
            </a:r>
            <a:endParaRPr lang="en-US" sz="1350"/>
          </a:p>
        </p:txBody>
      </p:sp>
      <p:sp>
        <p:nvSpPr>
          <p:cNvPr id="20" name="Box 20"/>
          <p:cNvSpPr/>
          <p:nvPr/>
        </p:nvSpPr>
        <p:spPr>
          <a:xfrm>
            <a:off x="6650000" y="1500000"/>
            <a:ext cx="1750000" cy="43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Ontology</a:t>
            </a:r>
          </a:p>
        </p:txBody>
      </p:sp>
      <p:sp>
        <p:nvSpPr>
          <p:cNvPr id="21" name="Box 21"/>
          <p:cNvSpPr/>
          <p:nvPr/>
        </p:nvSpPr>
        <p:spPr>
          <a:xfrm>
            <a:off x="8750000" y="1500000"/>
            <a:ext cx="1750000" cy="430000"/>
          </a:xfrm>
          <a:prstGeom prst="round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22" name="Box 22"/>
          <p:cNvSpPr/>
          <p:nvPr/>
        </p:nvSpPr>
        <p:spPr>
          <a:xfrm>
            <a:off x="6650000" y="2260000"/>
            <a:ext cx="1750000" cy="430000"/>
          </a:xfrm>
          <a:prstGeom prst="roundRect">
            <a:avLst/>
          </a:prstGeom>
          <a:solidFill>
            <a:srgbClr val="684A7C"/>
          </a:solidFill>
          <a:ln>
            <a:solidFill>
              <a:srgbClr val="684A7C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Mappings</a:t>
            </a:r>
          </a:p>
        </p:txBody>
      </p:sp>
      <p:sp>
        <p:nvSpPr>
          <p:cNvPr id="23" name="Box 23"/>
          <p:cNvSpPr/>
          <p:nvPr/>
        </p:nvSpPr>
        <p:spPr>
          <a:xfrm>
            <a:off x="8750000" y="2260000"/>
            <a:ext cx="1750000" cy="430000"/>
          </a:xfrm>
          <a:prstGeom prst="roundRect">
            <a:avLst/>
          </a:prstGeom>
          <a:solidFill>
            <a:srgbClr val="458459"/>
          </a:solidFill>
          <a:ln>
            <a:solidFill>
              <a:srgbClr val="458459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Reproducibility</a:t>
            </a:r>
          </a:p>
        </p:txBody>
      </p:sp>
      <p:sp>
        <p:nvSpPr>
          <p:cNvPr id="24" name="Box 24"/>
          <p:cNvSpPr/>
          <p:nvPr/>
        </p:nvSpPr>
        <p:spPr>
          <a:xfrm>
            <a:off x="7050000" y="5300000"/>
            <a:ext cx="3800000" cy="52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50" b="1">
                <a:solidFill>
                  <a:srgbClr val="FFFFFF"/>
                </a:solidFill>
              </a:rPr>
              <a:t>Claim -&gt; artifact -&gt; gate -&gt; residual risk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60000" y="300000"/>
            <a:ext cx="4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007980"/>
                </a:solidFill>
              </a:rPr>
              <a:t>GAP AND MOTIVATION</a:t>
            </a:r>
            <a:endParaRPr lang="en-US" sz="1000"/>
          </a:p>
        </p:txBody>
      </p:sp>
      <p:sp>
        <p:nvSpPr>
          <p:cNvPr id="11" name="Text 11"/>
          <p:cNvSpPr txBox="1"/>
          <p:nvPr/>
        </p:nvSpPr>
        <p:spPr>
          <a:xfrm>
            <a:off x="560000" y="620000"/>
            <a:ext cx="7700000" cy="7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600" b="1">
                <a:solidFill>
                  <a:srgbClr val="1C2B3A"/>
                </a:solidFill>
              </a:rPr>
              <a:t>Problem: modelling languages do not share reviewable semantics</a:t>
            </a:r>
            <a:endParaRPr lang="en-US" sz="2600"/>
          </a:p>
        </p:txBody>
      </p:sp>
      <p:sp>
        <p:nvSpPr>
          <p:cNvPr id="12" name="Text 12"/>
          <p:cNvSpPr txBox="1"/>
          <p:nvPr/>
        </p:nvSpPr>
        <p:spPr>
          <a:xfrm>
            <a:off x="600000" y="1400000"/>
            <a:ext cx="61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5C6570"/>
                </a:solidFill>
              </a:rPr>
              <a:t>Game theory, simulation, MARL, mechanisms, and institutional models use overlapping ideas but rarely expose them as interoperable ontology evidence.</a:t>
            </a:r>
            <a:endParaRPr lang="en-US" sz="1400"/>
          </a:p>
        </p:txBody>
      </p:sp>
      <p:sp>
        <p:nvSpPr>
          <p:cNvPr id="13" name="Text 13"/>
          <p:cNvSpPr txBox="1"/>
          <p:nvPr/>
        </p:nvSpPr>
        <p:spPr>
          <a:xfrm>
            <a:off x="11000000" y="3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5C6570"/>
                </a:solidFill>
              </a:rPr>
              <a:t>02/08</a:t>
            </a:r>
            <a:endParaRPr lang="en-US" sz="1000"/>
          </a:p>
        </p:txBody>
      </p:sp>
      <p:sp>
        <p:nvSpPr>
          <p:cNvPr id="14" name="Box 14"/>
          <p:cNvSpPr/>
          <p:nvPr/>
        </p:nvSpPr>
        <p:spPr>
          <a:xfrm>
            <a:off x="620000" y="220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50000" y="217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Strategy, action, state, payoff, trace, and outcome drift across communities</a:t>
            </a:r>
            <a:endParaRPr lang="en-US" sz="1350"/>
          </a:p>
        </p:txBody>
      </p:sp>
      <p:sp>
        <p:nvSpPr>
          <p:cNvPr id="16" name="Box 16"/>
          <p:cNvSpPr/>
          <p:nvPr/>
        </p:nvSpPr>
        <p:spPr>
          <a:xfrm>
            <a:off x="620000" y="292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50000" y="289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Evidence is scattered across RDF, structured non-RDF, metadata-only sources, and literature</a:t>
            </a:r>
            <a:endParaRPr lang="en-US" sz="1350"/>
          </a:p>
        </p:txBody>
      </p:sp>
      <p:sp>
        <p:nvSpPr>
          <p:cNvPr id="18" name="Box 18"/>
          <p:cNvSpPr/>
          <p:nvPr/>
        </p:nvSpPr>
        <p:spPr>
          <a:xfrm>
            <a:off x="620000" y="364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50000" y="361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Reviewers need a map from article claims to source, validation, mapping, and reproducibility artifacts</a:t>
            </a:r>
            <a:endParaRPr lang="en-US" sz="1350"/>
          </a:p>
        </p:txBody>
      </p:sp>
      <p:sp>
        <p:nvSpPr>
          <p:cNvPr id="20" name="Box 20"/>
          <p:cNvSpPr/>
          <p:nvPr/>
        </p:nvSpPr>
        <p:spPr>
          <a:xfrm>
            <a:off x="6650000" y="1500000"/>
            <a:ext cx="1750000" cy="43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Game theory</a:t>
            </a:r>
          </a:p>
        </p:txBody>
      </p:sp>
      <p:sp>
        <p:nvSpPr>
          <p:cNvPr id="21" name="Box 21"/>
          <p:cNvSpPr/>
          <p:nvPr/>
        </p:nvSpPr>
        <p:spPr>
          <a:xfrm>
            <a:off x="8750000" y="1500000"/>
            <a:ext cx="1750000" cy="430000"/>
          </a:xfrm>
          <a:prstGeom prst="round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Simulation</a:t>
            </a:r>
          </a:p>
        </p:txBody>
      </p:sp>
      <p:sp>
        <p:nvSpPr>
          <p:cNvPr id="22" name="Box 22"/>
          <p:cNvSpPr/>
          <p:nvPr/>
        </p:nvSpPr>
        <p:spPr>
          <a:xfrm>
            <a:off x="6650000" y="2260000"/>
            <a:ext cx="1750000" cy="430000"/>
          </a:xfrm>
          <a:prstGeom prst="roundRect">
            <a:avLst/>
          </a:prstGeom>
          <a:solidFill>
            <a:srgbClr val="684A7C"/>
          </a:solidFill>
          <a:ln>
            <a:solidFill>
              <a:srgbClr val="684A7C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MARL</a:t>
            </a:r>
          </a:p>
        </p:txBody>
      </p:sp>
      <p:sp>
        <p:nvSpPr>
          <p:cNvPr id="23" name="Box 23"/>
          <p:cNvSpPr/>
          <p:nvPr/>
        </p:nvSpPr>
        <p:spPr>
          <a:xfrm>
            <a:off x="8750000" y="2260000"/>
            <a:ext cx="1750000" cy="430000"/>
          </a:xfrm>
          <a:prstGeom prst="roundRect">
            <a:avLst/>
          </a:prstGeom>
          <a:solidFill>
            <a:srgbClr val="458459"/>
          </a:solidFill>
          <a:ln>
            <a:solidFill>
              <a:srgbClr val="458459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Ontology</a:t>
            </a:r>
          </a:p>
        </p:txBody>
      </p:sp>
      <p:sp>
        <p:nvSpPr>
          <p:cNvPr id="24" name="Box 24"/>
          <p:cNvSpPr/>
          <p:nvPr/>
        </p:nvSpPr>
        <p:spPr>
          <a:xfrm>
            <a:off x="7050000" y="5300000"/>
            <a:ext cx="3800000" cy="52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50" b="1">
                <a:solidFill>
                  <a:srgbClr val="FFFFFF"/>
                </a:solidFill>
              </a:rPr>
              <a:t>Claim -&gt; artifact -&gt; gate -&gt; residual risk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60000" y="300000"/>
            <a:ext cx="4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007980"/>
                </a:solidFill>
              </a:rPr>
              <a:t>ONTOLOGY DESIGN</a:t>
            </a:r>
            <a:endParaRPr lang="en-US" sz="1000"/>
          </a:p>
        </p:txBody>
      </p:sp>
      <p:sp>
        <p:nvSpPr>
          <p:cNvPr id="11" name="Text 11"/>
          <p:cNvSpPr txBox="1"/>
          <p:nvPr/>
        </p:nvSpPr>
        <p:spPr>
          <a:xfrm>
            <a:off x="560000" y="620000"/>
            <a:ext cx="7700000" cy="7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600" b="1">
                <a:solidFill>
                  <a:srgbClr val="1C2B3A"/>
                </a:solidFill>
              </a:rPr>
              <a:t>Architecture separates specification, execution, and evidence</a:t>
            </a:r>
            <a:endParaRPr lang="en-US" sz="2600"/>
          </a:p>
        </p:txBody>
      </p:sp>
      <p:sp>
        <p:nvSpPr>
          <p:cNvPr id="12" name="Text 12"/>
          <p:cNvSpPr txBox="1"/>
          <p:nvPr/>
        </p:nvSpPr>
        <p:spPr>
          <a:xfrm>
            <a:off x="600000" y="1400000"/>
            <a:ext cx="61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5C6570"/>
                </a:solidFill>
              </a:rPr>
              <a:t>UOGTO models game specifications, sessions, traces, strategies, actions, payoffs, outcomes, mechanisms, and execution bindings as distinct review surfaces.</a:t>
            </a:r>
            <a:endParaRPr lang="en-US" sz="1400"/>
          </a:p>
        </p:txBody>
      </p:sp>
      <p:sp>
        <p:nvSpPr>
          <p:cNvPr id="13" name="Text 13"/>
          <p:cNvSpPr txBox="1"/>
          <p:nvPr/>
        </p:nvSpPr>
        <p:spPr>
          <a:xfrm>
            <a:off x="11000000" y="3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5C6570"/>
                </a:solidFill>
              </a:rPr>
              <a:t>03/08</a:t>
            </a:r>
            <a:endParaRPr lang="en-US" sz="1000"/>
          </a:p>
        </p:txBody>
      </p:sp>
      <p:sp>
        <p:nvSpPr>
          <p:cNvPr id="14" name="Box 14"/>
          <p:cNvSpPr/>
          <p:nvPr/>
        </p:nvSpPr>
        <p:spPr>
          <a:xfrm>
            <a:off x="620000" y="220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50000" y="217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Core namespace: https://w3id.org/uogto/core#</a:t>
            </a:r>
            <a:endParaRPr lang="en-US" sz="1350"/>
          </a:p>
        </p:txBody>
      </p:sp>
      <p:sp>
        <p:nvSpPr>
          <p:cNvPr id="16" name="Box 16"/>
          <p:cNvSpPr/>
          <p:nvPr/>
        </p:nvSpPr>
        <p:spPr>
          <a:xfrm>
            <a:off x="620000" y="292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50000" y="289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Extensions cover classical, cooperative, MARL, network, mechanism, social-choice, deontic, contract, and executable modules</a:t>
            </a:r>
            <a:endParaRPr lang="en-US" sz="1350"/>
          </a:p>
        </p:txBody>
      </p:sp>
      <p:sp>
        <p:nvSpPr>
          <p:cNvPr id="18" name="Box 18"/>
          <p:cNvSpPr/>
          <p:nvPr/>
        </p:nvSpPr>
        <p:spPr>
          <a:xfrm>
            <a:off x="620000" y="364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50000" y="361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Governance metadata, term changelog, deprecation policy, and modelling decisions support reuse</a:t>
            </a:r>
            <a:endParaRPr lang="en-US" sz="1350"/>
          </a:p>
        </p:txBody>
      </p:sp>
      <p:sp>
        <p:nvSpPr>
          <p:cNvPr id="20" name="Box 20"/>
          <p:cNvSpPr/>
          <p:nvPr/>
        </p:nvSpPr>
        <p:spPr>
          <a:xfrm>
            <a:off x="6650000" y="1500000"/>
            <a:ext cx="1750000" cy="43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Specification</a:t>
            </a:r>
          </a:p>
        </p:txBody>
      </p:sp>
      <p:sp>
        <p:nvSpPr>
          <p:cNvPr id="21" name="Box 21"/>
          <p:cNvSpPr/>
          <p:nvPr/>
        </p:nvSpPr>
        <p:spPr>
          <a:xfrm>
            <a:off x="8750000" y="1500000"/>
            <a:ext cx="1750000" cy="430000"/>
          </a:xfrm>
          <a:prstGeom prst="round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Session</a:t>
            </a:r>
          </a:p>
        </p:txBody>
      </p:sp>
      <p:sp>
        <p:nvSpPr>
          <p:cNvPr id="22" name="Box 22"/>
          <p:cNvSpPr/>
          <p:nvPr/>
        </p:nvSpPr>
        <p:spPr>
          <a:xfrm>
            <a:off x="6650000" y="2260000"/>
            <a:ext cx="1750000" cy="430000"/>
          </a:xfrm>
          <a:prstGeom prst="roundRect">
            <a:avLst/>
          </a:prstGeom>
          <a:solidFill>
            <a:srgbClr val="684A7C"/>
          </a:solidFill>
          <a:ln>
            <a:solidFill>
              <a:srgbClr val="684A7C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Trace</a:t>
            </a:r>
          </a:p>
        </p:txBody>
      </p:sp>
      <p:sp>
        <p:nvSpPr>
          <p:cNvPr id="23" name="Box 23"/>
          <p:cNvSpPr/>
          <p:nvPr/>
        </p:nvSpPr>
        <p:spPr>
          <a:xfrm>
            <a:off x="8750000" y="2260000"/>
            <a:ext cx="1750000" cy="430000"/>
          </a:xfrm>
          <a:prstGeom prst="roundRect">
            <a:avLst/>
          </a:prstGeom>
          <a:solidFill>
            <a:srgbClr val="458459"/>
          </a:solidFill>
          <a:ln>
            <a:solidFill>
              <a:srgbClr val="458459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Strategy</a:t>
            </a:r>
          </a:p>
        </p:txBody>
      </p:sp>
      <p:sp>
        <p:nvSpPr>
          <p:cNvPr id="24" name="Box 24"/>
          <p:cNvSpPr/>
          <p:nvPr/>
        </p:nvSpPr>
        <p:spPr>
          <a:xfrm>
            <a:off x="6650000" y="3020000"/>
            <a:ext cx="1750000" cy="430000"/>
          </a:xfrm>
          <a:prstGeom prst="roundRect">
            <a:avLst/>
          </a:prstGeom>
          <a:solidFill>
            <a:srgbClr val="A84040"/>
          </a:solidFill>
          <a:ln>
            <a:solidFill>
              <a:srgbClr val="A8404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25" name="Box 25"/>
          <p:cNvSpPr/>
          <p:nvPr/>
        </p:nvSpPr>
        <p:spPr>
          <a:xfrm>
            <a:off x="8750000" y="3020000"/>
            <a:ext cx="1750000" cy="43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Payoff</a:t>
            </a:r>
          </a:p>
        </p:txBody>
      </p:sp>
      <p:sp>
        <p:nvSpPr>
          <p:cNvPr id="26" name="Box 26"/>
          <p:cNvSpPr/>
          <p:nvPr/>
        </p:nvSpPr>
        <p:spPr>
          <a:xfrm>
            <a:off x="6650000" y="3780000"/>
            <a:ext cx="1750000" cy="430000"/>
          </a:xfrm>
          <a:prstGeom prst="roundRect">
            <a:avLst/>
          </a:prstGeom>
          <a:solidFill>
            <a:srgbClr val="5C6570"/>
          </a:solidFill>
          <a:ln>
            <a:solidFill>
              <a:srgbClr val="5C657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27" name="Box 27"/>
          <p:cNvSpPr/>
          <p:nvPr/>
        </p:nvSpPr>
        <p:spPr>
          <a:xfrm>
            <a:off x="8750000" y="3780000"/>
            <a:ext cx="1750000" cy="43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Binding</a:t>
            </a:r>
          </a:p>
        </p:txBody>
      </p:sp>
      <p:sp>
        <p:nvSpPr>
          <p:cNvPr id="28" name="Box 28"/>
          <p:cNvSpPr/>
          <p:nvPr/>
        </p:nvSpPr>
        <p:spPr>
          <a:xfrm>
            <a:off x="7050000" y="5300000"/>
            <a:ext cx="3800000" cy="52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50" b="1">
                <a:solidFill>
                  <a:srgbClr val="FFFFFF"/>
                </a:solidFill>
              </a:rPr>
              <a:t>Claim -&gt; artifact -&gt; gate -&gt; residual risk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60000" y="300000"/>
            <a:ext cx="4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007980"/>
                </a:solidFill>
              </a:rPr>
              <a:t>PROTOCOL AND SOURCE DISCOVERY</a:t>
            </a:r>
            <a:endParaRPr lang="en-US" sz="1000"/>
          </a:p>
        </p:txBody>
      </p:sp>
      <p:sp>
        <p:nvSpPr>
          <p:cNvPr id="11" name="Text 11"/>
          <p:cNvSpPr txBox="1"/>
          <p:nvPr/>
        </p:nvSpPr>
        <p:spPr>
          <a:xfrm>
            <a:off x="560000" y="620000"/>
            <a:ext cx="7700000" cy="7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600" b="1">
                <a:solidFill>
                  <a:srgbClr val="1C2B3A"/>
                </a:solidFill>
              </a:rPr>
              <a:t>Evidence register makes discovery auditable</a:t>
            </a:r>
            <a:endParaRPr lang="en-US" sz="2600"/>
          </a:p>
        </p:txBody>
      </p:sp>
      <p:sp>
        <p:nvSpPr>
          <p:cNvPr id="12" name="Text 12"/>
          <p:cNvSpPr txBox="1"/>
          <p:nvPr/>
        </p:nvSpPr>
        <p:spPr>
          <a:xfrm>
            <a:off x="600000" y="1400000"/>
            <a:ext cx="61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5C6570"/>
                </a:solidFill>
              </a:rPr>
              <a:t>The supplement links PRISMA-ScR-style protocol surfaces to an append-only evidence register and source inventory.</a:t>
            </a:r>
            <a:endParaRPr lang="en-US" sz="1400"/>
          </a:p>
        </p:txBody>
      </p:sp>
      <p:sp>
        <p:nvSpPr>
          <p:cNvPr id="13" name="Text 13"/>
          <p:cNvSpPr txBox="1"/>
          <p:nvPr/>
        </p:nvSpPr>
        <p:spPr>
          <a:xfrm>
            <a:off x="11000000" y="3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5C6570"/>
                </a:solidFill>
              </a:rPr>
              <a:t>04/08</a:t>
            </a:r>
            <a:endParaRPr lang="en-US" sz="1000"/>
          </a:p>
        </p:txBody>
      </p:sp>
      <p:sp>
        <p:nvSpPr>
          <p:cNvPr id="14" name="Box 14"/>
          <p:cNvSpPr/>
          <p:nvPr/>
        </p:nvSpPr>
        <p:spPr>
          <a:xfrm>
            <a:off x="620000" y="220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50000" y="217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search-log.jsonl records query, result count, evidence level, rationale, licence, and handoff</a:t>
            </a:r>
            <a:endParaRPr lang="en-US" sz="1350"/>
          </a:p>
        </p:txBody>
      </p:sp>
      <p:sp>
        <p:nvSpPr>
          <p:cNvPr id="16" name="Box 16"/>
          <p:cNvSpPr/>
          <p:nvPr/>
        </p:nvSpPr>
        <p:spPr>
          <a:xfrm>
            <a:off x="620000" y="292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50000" y="289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source-extension-inventory separates parsed RDF, structured non-RDF, metadata-only, literature-only, excluded, and negative evidence</a:t>
            </a:r>
            <a:endParaRPr lang="en-US" sz="1350"/>
          </a:p>
        </p:txBody>
      </p:sp>
      <p:sp>
        <p:nvSpPr>
          <p:cNvPr id="18" name="Box 18"/>
          <p:cNvSpPr/>
          <p:nvPr/>
        </p:nvSpPr>
        <p:spPr>
          <a:xfrm>
            <a:off x="620000" y="364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50000" y="361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Dual-screening and red-team lanes make overclaiming visible</a:t>
            </a:r>
            <a:endParaRPr lang="en-US" sz="1350"/>
          </a:p>
        </p:txBody>
      </p:sp>
      <p:sp>
        <p:nvSpPr>
          <p:cNvPr id="20" name="Box 20"/>
          <p:cNvSpPr/>
          <p:nvPr/>
        </p:nvSpPr>
        <p:spPr>
          <a:xfrm>
            <a:off x="6650000" y="1500000"/>
            <a:ext cx="1750000" cy="43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Search</a:t>
            </a:r>
          </a:p>
        </p:txBody>
      </p:sp>
      <p:sp>
        <p:nvSpPr>
          <p:cNvPr id="21" name="Box 21"/>
          <p:cNvSpPr/>
          <p:nvPr/>
        </p:nvSpPr>
        <p:spPr>
          <a:xfrm>
            <a:off x="8750000" y="1500000"/>
            <a:ext cx="1750000" cy="430000"/>
          </a:xfrm>
          <a:prstGeom prst="round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Screen</a:t>
            </a:r>
          </a:p>
        </p:txBody>
      </p:sp>
      <p:sp>
        <p:nvSpPr>
          <p:cNvPr id="22" name="Box 22"/>
          <p:cNvSpPr/>
          <p:nvPr/>
        </p:nvSpPr>
        <p:spPr>
          <a:xfrm>
            <a:off x="6650000" y="2260000"/>
            <a:ext cx="1750000" cy="430000"/>
          </a:xfrm>
          <a:prstGeom prst="roundRect">
            <a:avLst/>
          </a:prstGeom>
          <a:solidFill>
            <a:srgbClr val="684A7C"/>
          </a:solidFill>
          <a:ln>
            <a:solidFill>
              <a:srgbClr val="684A7C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Chart</a:t>
            </a:r>
          </a:p>
        </p:txBody>
      </p:sp>
      <p:sp>
        <p:nvSpPr>
          <p:cNvPr id="23" name="Box 23"/>
          <p:cNvSpPr/>
          <p:nvPr/>
        </p:nvSpPr>
        <p:spPr>
          <a:xfrm>
            <a:off x="8750000" y="2260000"/>
            <a:ext cx="1750000" cy="430000"/>
          </a:xfrm>
          <a:prstGeom prst="roundRect">
            <a:avLst/>
          </a:prstGeom>
          <a:solidFill>
            <a:srgbClr val="458459"/>
          </a:solidFill>
          <a:ln>
            <a:solidFill>
              <a:srgbClr val="458459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24" name="Box 24"/>
          <p:cNvSpPr/>
          <p:nvPr/>
        </p:nvSpPr>
        <p:spPr>
          <a:xfrm>
            <a:off x="6650000" y="3020000"/>
            <a:ext cx="1750000" cy="430000"/>
          </a:xfrm>
          <a:prstGeom prst="roundRect">
            <a:avLst/>
          </a:prstGeom>
          <a:solidFill>
            <a:srgbClr val="A84040"/>
          </a:solidFill>
          <a:ln>
            <a:solidFill>
              <a:srgbClr val="A8404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Package</a:t>
            </a:r>
          </a:p>
        </p:txBody>
      </p:sp>
      <p:sp>
        <p:nvSpPr>
          <p:cNvPr id="25" name="Box 25"/>
          <p:cNvSpPr/>
          <p:nvPr/>
        </p:nvSpPr>
        <p:spPr>
          <a:xfrm>
            <a:off x="7050000" y="5300000"/>
            <a:ext cx="3800000" cy="52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50" b="1">
                <a:solidFill>
                  <a:srgbClr val="FFFFFF"/>
                </a:solidFill>
              </a:rPr>
              <a:t>Claim -&gt; artifact -&gt; gate -&gt; residual risk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60000" y="300000"/>
            <a:ext cx="4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007980"/>
                </a:solidFill>
              </a:rPr>
              <a:t>MAPPING AND ROBUSTNESS</a:t>
            </a:r>
            <a:endParaRPr lang="en-US" sz="1000"/>
          </a:p>
        </p:txBody>
      </p:sp>
      <p:sp>
        <p:nvSpPr>
          <p:cNvPr id="11" name="Text 11"/>
          <p:cNvSpPr txBox="1"/>
          <p:nvPr/>
        </p:nvSpPr>
        <p:spPr>
          <a:xfrm>
            <a:off x="560000" y="620000"/>
            <a:ext cx="7700000" cy="7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600" b="1">
                <a:solidFill>
                  <a:srgbClr val="1C2B3A"/>
                </a:solidFill>
              </a:rPr>
              <a:t>Mappings are conservative and inspectable</a:t>
            </a:r>
            <a:endParaRPr lang="en-US" sz="2600"/>
          </a:p>
        </p:txBody>
      </p:sp>
      <p:sp>
        <p:nvSpPr>
          <p:cNvPr id="12" name="Text 12"/>
          <p:cNvSpPr txBox="1"/>
          <p:nvPr/>
        </p:nvSpPr>
        <p:spPr>
          <a:xfrm>
            <a:off x="600000" y="1400000"/>
            <a:ext cx="61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5C6570"/>
                </a:solidFill>
              </a:rPr>
              <a:t>The mapping package supports bridge analysis, not universal equivalence claims.</a:t>
            </a:r>
            <a:endParaRPr lang="en-US" sz="1400"/>
          </a:p>
        </p:txBody>
      </p:sp>
      <p:sp>
        <p:nvSpPr>
          <p:cNvPr id="13" name="Text 13"/>
          <p:cNvSpPr txBox="1"/>
          <p:nvPr/>
        </p:nvSpPr>
        <p:spPr>
          <a:xfrm>
            <a:off x="11000000" y="3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5C6570"/>
                </a:solidFill>
              </a:rPr>
              <a:t>05/08</a:t>
            </a:r>
            <a:endParaRPr lang="en-US" sz="1000"/>
          </a:p>
        </p:txBody>
      </p:sp>
      <p:sp>
        <p:nvSpPr>
          <p:cNvPr id="14" name="Box 14"/>
          <p:cNvSpPr/>
          <p:nvPr/>
        </p:nvSpPr>
        <p:spPr>
          <a:xfrm>
            <a:off x="620000" y="220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50000" y="217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21 candidate sources, 4,037 term rows, 460 candidate mappings</a:t>
            </a:r>
            <a:endParaRPr lang="en-US" sz="1350"/>
          </a:p>
        </p:txBody>
      </p:sp>
      <p:sp>
        <p:nvSpPr>
          <p:cNvPr id="16" name="Box 16"/>
          <p:cNvSpPr/>
          <p:nvPr/>
        </p:nvSpPr>
        <p:spPr>
          <a:xfrm>
            <a:off x="620000" y="292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50000" y="289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Accepted mappings are published as TTL and SSSOM TSV plus metadata</a:t>
            </a:r>
            <a:endParaRPr lang="en-US" sz="1350"/>
          </a:p>
        </p:txBody>
      </p:sp>
      <p:sp>
        <p:nvSpPr>
          <p:cNvPr id="18" name="Box 18"/>
          <p:cNvSpPr/>
          <p:nvPr/>
        </p:nvSpPr>
        <p:spPr>
          <a:xfrm>
            <a:off x="620000" y="364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50000" y="361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Robustness checks ablate labels, definitions, hierarchy, property signatures, and embeddings</a:t>
            </a:r>
            <a:endParaRPr lang="en-US" sz="1350"/>
          </a:p>
        </p:txBody>
      </p:sp>
      <p:sp>
        <p:nvSpPr>
          <p:cNvPr id="20" name="Box 20"/>
          <p:cNvSpPr/>
          <p:nvPr/>
        </p:nvSpPr>
        <p:spPr>
          <a:xfrm>
            <a:off x="6650000" y="1500000"/>
            <a:ext cx="1750000" cy="43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Sources 21</a:t>
            </a:r>
          </a:p>
        </p:txBody>
      </p:sp>
      <p:sp>
        <p:nvSpPr>
          <p:cNvPr id="21" name="Box 21"/>
          <p:cNvSpPr/>
          <p:nvPr/>
        </p:nvSpPr>
        <p:spPr>
          <a:xfrm>
            <a:off x="8750000" y="1500000"/>
            <a:ext cx="1750000" cy="430000"/>
          </a:xfrm>
          <a:prstGeom prst="round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Terms 4037</a:t>
            </a:r>
          </a:p>
        </p:txBody>
      </p:sp>
      <p:sp>
        <p:nvSpPr>
          <p:cNvPr id="22" name="Box 22"/>
          <p:cNvSpPr/>
          <p:nvPr/>
        </p:nvSpPr>
        <p:spPr>
          <a:xfrm>
            <a:off x="6650000" y="2260000"/>
            <a:ext cx="1750000" cy="430000"/>
          </a:xfrm>
          <a:prstGeom prst="roundRect">
            <a:avLst/>
          </a:prstGeom>
          <a:solidFill>
            <a:srgbClr val="684A7C"/>
          </a:solidFill>
          <a:ln>
            <a:solidFill>
              <a:srgbClr val="684A7C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Candidates 460</a:t>
            </a:r>
          </a:p>
        </p:txBody>
      </p:sp>
      <p:sp>
        <p:nvSpPr>
          <p:cNvPr id="23" name="Box 23"/>
          <p:cNvSpPr/>
          <p:nvPr/>
        </p:nvSpPr>
        <p:spPr>
          <a:xfrm>
            <a:off x="8750000" y="2260000"/>
            <a:ext cx="1750000" cy="430000"/>
          </a:xfrm>
          <a:prstGeom prst="roundRect">
            <a:avLst/>
          </a:prstGeom>
          <a:solidFill>
            <a:srgbClr val="458459"/>
          </a:solidFill>
          <a:ln>
            <a:solidFill>
              <a:srgbClr val="458459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Accepted 10</a:t>
            </a:r>
          </a:p>
        </p:txBody>
      </p:sp>
      <p:sp>
        <p:nvSpPr>
          <p:cNvPr id="24" name="Box 24"/>
          <p:cNvSpPr/>
          <p:nvPr/>
        </p:nvSpPr>
        <p:spPr>
          <a:xfrm>
            <a:off x="7050000" y="5300000"/>
            <a:ext cx="3800000" cy="52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50" b="1">
                <a:solidFill>
                  <a:srgbClr val="FFFFFF"/>
                </a:solidFill>
              </a:rPr>
              <a:t>Claim -&gt; artifact -&gt; gate -&gt; residual risk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60000" y="300000"/>
            <a:ext cx="4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007980"/>
                </a:solidFill>
              </a:rPr>
              <a:t>DEMONSTRATION COVERAGE</a:t>
            </a:r>
            <a:endParaRPr lang="en-US" sz="1000"/>
          </a:p>
        </p:txBody>
      </p:sp>
      <p:sp>
        <p:nvSpPr>
          <p:cNvPr id="11" name="Text 11"/>
          <p:cNvSpPr txBox="1"/>
          <p:nvPr/>
        </p:nvSpPr>
        <p:spPr>
          <a:xfrm>
            <a:off x="560000" y="620000"/>
            <a:ext cx="7700000" cy="7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600" b="1">
                <a:solidFill>
                  <a:srgbClr val="1C2B3A"/>
                </a:solidFill>
              </a:rPr>
              <a:t>Case studies exercise strategic and executable semantics</a:t>
            </a:r>
            <a:endParaRPr lang="en-US" sz="2600"/>
          </a:p>
        </p:txBody>
      </p:sp>
      <p:sp>
        <p:nvSpPr>
          <p:cNvPr id="12" name="Text 12"/>
          <p:cNvSpPr txBox="1"/>
          <p:nvPr/>
        </p:nvSpPr>
        <p:spPr>
          <a:xfrm>
            <a:off x="600000" y="1400000"/>
            <a:ext cx="61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5C6570"/>
                </a:solidFill>
              </a:rPr>
              <a:t>The article package can show UOGTO across mechanisms, social choice, security, MARL, ABM, system dynamics, LLM-agent games, and executable traces.</a:t>
            </a:r>
            <a:endParaRPr lang="en-US" sz="1400"/>
          </a:p>
        </p:txBody>
      </p:sp>
      <p:sp>
        <p:nvSpPr>
          <p:cNvPr id="13" name="Text 13"/>
          <p:cNvSpPr txBox="1"/>
          <p:nvPr/>
        </p:nvSpPr>
        <p:spPr>
          <a:xfrm>
            <a:off x="11000000" y="3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5C6570"/>
                </a:solidFill>
              </a:rPr>
              <a:t>06/08</a:t>
            </a:r>
            <a:endParaRPr lang="en-US" sz="1000"/>
          </a:p>
        </p:txBody>
      </p:sp>
      <p:sp>
        <p:nvSpPr>
          <p:cNvPr id="14" name="Box 14"/>
          <p:cNvSpPr/>
          <p:nvPr/>
        </p:nvSpPr>
        <p:spPr>
          <a:xfrm>
            <a:off x="620000" y="220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50000" y="217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Use main article for two or three cases; keep the broader matrix in the supplement</a:t>
            </a:r>
            <a:endParaRPr lang="en-US" sz="1350"/>
          </a:p>
        </p:txBody>
      </p:sp>
      <p:sp>
        <p:nvSpPr>
          <p:cNvPr id="16" name="Box 16"/>
          <p:cNvSpPr/>
          <p:nvPr/>
        </p:nvSpPr>
        <p:spPr>
          <a:xfrm>
            <a:off x="620000" y="292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50000" y="289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Executable trace and provenance case is the strongest differentiator</a:t>
            </a:r>
            <a:endParaRPr lang="en-US" sz="1350"/>
          </a:p>
        </p:txBody>
      </p:sp>
      <p:sp>
        <p:nvSpPr>
          <p:cNvPr id="18" name="Box 18"/>
          <p:cNvSpPr/>
          <p:nvPr/>
        </p:nvSpPr>
        <p:spPr>
          <a:xfrm>
            <a:off x="620000" y="364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50000" y="361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Missing game-theory elements are triaged before ontology expansion</a:t>
            </a:r>
            <a:endParaRPr lang="en-US" sz="1350"/>
          </a:p>
        </p:txBody>
      </p:sp>
      <p:sp>
        <p:nvSpPr>
          <p:cNvPr id="20" name="Box 20"/>
          <p:cNvSpPr/>
          <p:nvPr/>
        </p:nvSpPr>
        <p:spPr>
          <a:xfrm>
            <a:off x="6650000" y="1500000"/>
            <a:ext cx="1750000" cy="43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Auction</a:t>
            </a:r>
          </a:p>
        </p:txBody>
      </p:sp>
      <p:sp>
        <p:nvSpPr>
          <p:cNvPr id="21" name="Box 21"/>
          <p:cNvSpPr/>
          <p:nvPr/>
        </p:nvSpPr>
        <p:spPr>
          <a:xfrm>
            <a:off x="8750000" y="1500000"/>
            <a:ext cx="1750000" cy="430000"/>
          </a:xfrm>
          <a:prstGeom prst="round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Voting</a:t>
            </a:r>
          </a:p>
        </p:txBody>
      </p:sp>
      <p:sp>
        <p:nvSpPr>
          <p:cNvPr id="22" name="Box 22"/>
          <p:cNvSpPr/>
          <p:nvPr/>
        </p:nvSpPr>
        <p:spPr>
          <a:xfrm>
            <a:off x="6650000" y="2260000"/>
            <a:ext cx="1750000" cy="430000"/>
          </a:xfrm>
          <a:prstGeom prst="roundRect">
            <a:avLst/>
          </a:prstGeom>
          <a:solidFill>
            <a:srgbClr val="684A7C"/>
          </a:solidFill>
          <a:ln>
            <a:solidFill>
              <a:srgbClr val="684A7C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23" name="Box 23"/>
          <p:cNvSpPr/>
          <p:nvPr/>
        </p:nvSpPr>
        <p:spPr>
          <a:xfrm>
            <a:off x="8750000" y="2260000"/>
            <a:ext cx="1750000" cy="430000"/>
          </a:xfrm>
          <a:prstGeom prst="roundRect">
            <a:avLst/>
          </a:prstGeom>
          <a:solidFill>
            <a:srgbClr val="458459"/>
          </a:solidFill>
          <a:ln>
            <a:solidFill>
              <a:srgbClr val="458459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MARL</a:t>
            </a:r>
          </a:p>
        </p:txBody>
      </p:sp>
      <p:sp>
        <p:nvSpPr>
          <p:cNvPr id="24" name="Box 24"/>
          <p:cNvSpPr/>
          <p:nvPr/>
        </p:nvSpPr>
        <p:spPr>
          <a:xfrm>
            <a:off x="6650000" y="3020000"/>
            <a:ext cx="1750000" cy="430000"/>
          </a:xfrm>
          <a:prstGeom prst="roundRect">
            <a:avLst/>
          </a:prstGeom>
          <a:solidFill>
            <a:srgbClr val="A84040"/>
          </a:solidFill>
          <a:ln>
            <a:solidFill>
              <a:srgbClr val="A8404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ABM</a:t>
            </a:r>
          </a:p>
        </p:txBody>
      </p:sp>
      <p:sp>
        <p:nvSpPr>
          <p:cNvPr id="25" name="Box 25"/>
          <p:cNvSpPr/>
          <p:nvPr/>
        </p:nvSpPr>
        <p:spPr>
          <a:xfrm>
            <a:off x="8750000" y="3020000"/>
            <a:ext cx="1750000" cy="43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System dynamics</a:t>
            </a:r>
          </a:p>
        </p:txBody>
      </p:sp>
      <p:sp>
        <p:nvSpPr>
          <p:cNvPr id="26" name="Box 26"/>
          <p:cNvSpPr/>
          <p:nvPr/>
        </p:nvSpPr>
        <p:spPr>
          <a:xfrm>
            <a:off x="6650000" y="3780000"/>
            <a:ext cx="1750000" cy="430000"/>
          </a:xfrm>
          <a:prstGeom prst="roundRect">
            <a:avLst/>
          </a:prstGeom>
          <a:solidFill>
            <a:srgbClr val="5C6570"/>
          </a:solidFill>
          <a:ln>
            <a:solidFill>
              <a:srgbClr val="5C657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LLM agents</a:t>
            </a:r>
          </a:p>
        </p:txBody>
      </p:sp>
      <p:sp>
        <p:nvSpPr>
          <p:cNvPr id="27" name="Box 27"/>
          <p:cNvSpPr/>
          <p:nvPr/>
        </p:nvSpPr>
        <p:spPr>
          <a:xfrm>
            <a:off x="8750000" y="3780000"/>
            <a:ext cx="1750000" cy="43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Trace</a:t>
            </a:r>
          </a:p>
        </p:txBody>
      </p:sp>
      <p:sp>
        <p:nvSpPr>
          <p:cNvPr id="28" name="Box 28"/>
          <p:cNvSpPr/>
          <p:nvPr/>
        </p:nvSpPr>
        <p:spPr>
          <a:xfrm>
            <a:off x="7050000" y="5300000"/>
            <a:ext cx="3800000" cy="52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50" b="1">
                <a:solidFill>
                  <a:srgbClr val="FFFFFF"/>
                </a:solidFill>
              </a:rPr>
              <a:t>Claim -&gt; artifact -&gt; gate -&gt; residual risk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60000" y="300000"/>
            <a:ext cx="4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007980"/>
                </a:solidFill>
              </a:rPr>
              <a:t>REPRODUCIBILITY AND SUBMISSION GATES</a:t>
            </a:r>
            <a:endParaRPr lang="en-US" sz="1000"/>
          </a:p>
        </p:txBody>
      </p:sp>
      <p:sp>
        <p:nvSpPr>
          <p:cNvPr id="11" name="Text 11"/>
          <p:cNvSpPr txBox="1"/>
          <p:nvPr/>
        </p:nvSpPr>
        <p:spPr>
          <a:xfrm>
            <a:off x="560000" y="620000"/>
            <a:ext cx="7700000" cy="7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600" b="1">
                <a:solidFill>
                  <a:srgbClr val="1C2B3A"/>
                </a:solidFill>
              </a:rPr>
              <a:t>FAIR package is ready for review, not just narrative claims</a:t>
            </a:r>
            <a:endParaRPr lang="en-US" sz="2600"/>
          </a:p>
        </p:txBody>
      </p:sp>
      <p:sp>
        <p:nvSpPr>
          <p:cNvPr id="12" name="Text 12"/>
          <p:cNvSpPr txBox="1"/>
          <p:nvPr/>
        </p:nvSpPr>
        <p:spPr>
          <a:xfrm>
            <a:off x="600000" y="1400000"/>
            <a:ext cx="61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5C6570"/>
                </a:solidFill>
              </a:rPr>
              <a:t>RO-Crate, DuckDB design, SSSOM, SHACL, SourceRight, WIDOCO, and arXiv checks form the reproducibility backbone.</a:t>
            </a:r>
            <a:endParaRPr lang="en-US" sz="1400"/>
          </a:p>
        </p:txBody>
      </p:sp>
      <p:sp>
        <p:nvSpPr>
          <p:cNvPr id="13" name="Text 13"/>
          <p:cNvSpPr txBox="1"/>
          <p:nvPr/>
        </p:nvSpPr>
        <p:spPr>
          <a:xfrm>
            <a:off x="11000000" y="3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5C6570"/>
                </a:solidFill>
              </a:rPr>
              <a:t>07/08</a:t>
            </a:r>
            <a:endParaRPr lang="en-US" sz="1000"/>
          </a:p>
        </p:txBody>
      </p:sp>
      <p:sp>
        <p:nvSpPr>
          <p:cNvPr id="14" name="Box 14"/>
          <p:cNvSpPr/>
          <p:nvPr/>
        </p:nvSpPr>
        <p:spPr>
          <a:xfrm>
            <a:off x="620000" y="220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50000" y="217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RO-Crate metadata and dashboard surfaces expose validated artifacts</a:t>
            </a:r>
            <a:endParaRPr lang="en-US" sz="1350"/>
          </a:p>
        </p:txBody>
      </p:sp>
      <p:sp>
        <p:nvSpPr>
          <p:cNvPr id="16" name="Box 16"/>
          <p:cNvSpPr/>
          <p:nvPr/>
        </p:nvSpPr>
        <p:spPr>
          <a:xfrm>
            <a:off x="620000" y="292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50000" y="289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DuckDB design organizes sources, search logs, mappings, metrics, reviewer decisions, and figures</a:t>
            </a:r>
            <a:endParaRPr lang="en-US" sz="1350"/>
          </a:p>
        </p:txBody>
      </p:sp>
      <p:sp>
        <p:nvSpPr>
          <p:cNvPr id="18" name="Box 18"/>
          <p:cNvSpPr/>
          <p:nvPr/>
        </p:nvSpPr>
        <p:spPr>
          <a:xfrm>
            <a:off x="620000" y="364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50000" y="361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CI validates ontology, WIDOCO pages, manuscript PDF, and arXiv preflight</a:t>
            </a:r>
            <a:endParaRPr lang="en-US" sz="1350"/>
          </a:p>
        </p:txBody>
      </p:sp>
      <p:sp>
        <p:nvSpPr>
          <p:cNvPr id="20" name="Box 20"/>
          <p:cNvSpPr/>
          <p:nvPr/>
        </p:nvSpPr>
        <p:spPr>
          <a:xfrm>
            <a:off x="6650000" y="1500000"/>
            <a:ext cx="1750000" cy="43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RO-Crate</a:t>
            </a:r>
          </a:p>
        </p:txBody>
      </p:sp>
      <p:sp>
        <p:nvSpPr>
          <p:cNvPr id="21" name="Box 21"/>
          <p:cNvSpPr/>
          <p:nvPr/>
        </p:nvSpPr>
        <p:spPr>
          <a:xfrm>
            <a:off x="8750000" y="1500000"/>
            <a:ext cx="1750000" cy="430000"/>
          </a:xfrm>
          <a:prstGeom prst="round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DuckDB</a:t>
            </a:r>
          </a:p>
        </p:txBody>
      </p:sp>
      <p:sp>
        <p:nvSpPr>
          <p:cNvPr id="22" name="Box 22"/>
          <p:cNvSpPr/>
          <p:nvPr/>
        </p:nvSpPr>
        <p:spPr>
          <a:xfrm>
            <a:off x="6650000" y="2260000"/>
            <a:ext cx="1750000" cy="430000"/>
          </a:xfrm>
          <a:prstGeom prst="roundRect">
            <a:avLst/>
          </a:prstGeom>
          <a:solidFill>
            <a:srgbClr val="684A7C"/>
          </a:solidFill>
          <a:ln>
            <a:solidFill>
              <a:srgbClr val="684A7C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SSSOM</a:t>
            </a:r>
          </a:p>
        </p:txBody>
      </p:sp>
      <p:sp>
        <p:nvSpPr>
          <p:cNvPr id="23" name="Box 23"/>
          <p:cNvSpPr/>
          <p:nvPr/>
        </p:nvSpPr>
        <p:spPr>
          <a:xfrm>
            <a:off x="8750000" y="2260000"/>
            <a:ext cx="1750000" cy="430000"/>
          </a:xfrm>
          <a:prstGeom prst="roundRect">
            <a:avLst/>
          </a:prstGeom>
          <a:solidFill>
            <a:srgbClr val="458459"/>
          </a:solidFill>
          <a:ln>
            <a:solidFill>
              <a:srgbClr val="458459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SHACL</a:t>
            </a:r>
          </a:p>
        </p:txBody>
      </p:sp>
      <p:sp>
        <p:nvSpPr>
          <p:cNvPr id="24" name="Box 24"/>
          <p:cNvSpPr/>
          <p:nvPr/>
        </p:nvSpPr>
        <p:spPr>
          <a:xfrm>
            <a:off x="6650000" y="3020000"/>
            <a:ext cx="1750000" cy="430000"/>
          </a:xfrm>
          <a:prstGeom prst="roundRect">
            <a:avLst/>
          </a:prstGeom>
          <a:solidFill>
            <a:srgbClr val="A84040"/>
          </a:solidFill>
          <a:ln>
            <a:solidFill>
              <a:srgbClr val="A8404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SourceRight</a:t>
            </a:r>
          </a:p>
        </p:txBody>
      </p:sp>
      <p:sp>
        <p:nvSpPr>
          <p:cNvPr id="25" name="Box 25"/>
          <p:cNvSpPr/>
          <p:nvPr/>
        </p:nvSpPr>
        <p:spPr>
          <a:xfrm>
            <a:off x="8750000" y="3020000"/>
            <a:ext cx="1750000" cy="43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arXiv CI</a:t>
            </a:r>
          </a:p>
        </p:txBody>
      </p:sp>
      <p:sp>
        <p:nvSpPr>
          <p:cNvPr id="26" name="Box 26"/>
          <p:cNvSpPr/>
          <p:nvPr/>
        </p:nvSpPr>
        <p:spPr>
          <a:xfrm>
            <a:off x="7050000" y="5300000"/>
            <a:ext cx="3800000" cy="52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50" b="1">
                <a:solidFill>
                  <a:srgbClr val="FFFFFF"/>
                </a:solidFill>
              </a:rPr>
              <a:t>Claim -&gt; artifact -&gt; gate -&gt; residual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10"/>
          <p:cNvSpPr txBox="1"/>
          <p:nvPr/>
        </p:nvSpPr>
        <p:spPr>
          <a:xfrm>
            <a:off x="560000" y="300000"/>
            <a:ext cx="4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007980"/>
                </a:solidFill>
              </a:rPr>
              <a:t>LIMITATIONS AND NEXT VALIDATION</a:t>
            </a:r>
            <a:endParaRPr lang="en-US" sz="1000"/>
          </a:p>
        </p:txBody>
      </p:sp>
      <p:sp>
        <p:nvSpPr>
          <p:cNvPr id="11" name="Text 11"/>
          <p:cNvSpPr txBox="1"/>
          <p:nvPr/>
        </p:nvSpPr>
        <p:spPr>
          <a:xfrm>
            <a:off x="560000" y="620000"/>
            <a:ext cx="7700000" cy="7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600" b="1">
                <a:solidFill>
                  <a:srgbClr val="1C2B3A"/>
                </a:solidFill>
              </a:rPr>
              <a:t>Decision: major revision before Nature submission</a:t>
            </a:r>
            <a:endParaRPr lang="en-US" sz="2600"/>
          </a:p>
        </p:txBody>
      </p:sp>
      <p:sp>
        <p:nvSpPr>
          <p:cNvPr id="12" name="Text 12"/>
          <p:cNvSpPr txBox="1"/>
          <p:nvPr/>
        </p:nvSpPr>
        <p:spPr>
          <a:xfrm>
            <a:off x="600000" y="1400000"/>
            <a:ext cx="61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400" b="0">
                <a:solidFill>
                  <a:srgbClr val="5C6570"/>
                </a:solidFill>
              </a:rPr>
              <a:t>The repo is materially stronger, but the package is not yet Nature-ready until final editorial and visual gates close.</a:t>
            </a:r>
            <a:endParaRPr lang="en-US" sz="1400"/>
          </a:p>
        </p:txBody>
      </p:sp>
      <p:sp>
        <p:nvSpPr>
          <p:cNvPr id="13" name="Text 13"/>
          <p:cNvSpPr txBox="1"/>
          <p:nvPr/>
        </p:nvSpPr>
        <p:spPr>
          <a:xfrm>
            <a:off x="11000000" y="3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000" b="1">
                <a:solidFill>
                  <a:srgbClr val="5C6570"/>
                </a:solidFill>
              </a:rPr>
              <a:t>08/08</a:t>
            </a:r>
            <a:endParaRPr lang="en-US" sz="1000"/>
          </a:p>
        </p:txBody>
      </p:sp>
      <p:sp>
        <p:nvSpPr>
          <p:cNvPr id="14" name="Box 14"/>
          <p:cNvSpPr/>
          <p:nvPr/>
        </p:nvSpPr>
        <p:spPr>
          <a:xfrm>
            <a:off x="620000" y="220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50000" y="217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Must finish final supplement prose, source-leak privacy audit, figure loops, and article figure callouts</a:t>
            </a:r>
            <a:endParaRPr lang="en-US" sz="1350"/>
          </a:p>
        </p:txBody>
      </p:sp>
      <p:sp>
        <p:nvSpPr>
          <p:cNvPr id="16" name="Box 16"/>
          <p:cNvSpPr/>
          <p:nvPr/>
        </p:nvSpPr>
        <p:spPr>
          <a:xfrm>
            <a:off x="620000" y="292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50000" y="289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Should add compact module audit and mapping robustness tables to the article</a:t>
            </a:r>
            <a:endParaRPr lang="en-US" sz="1350"/>
          </a:p>
        </p:txBody>
      </p:sp>
      <p:sp>
        <p:nvSpPr>
          <p:cNvPr id="18" name="Box 18"/>
          <p:cNvSpPr/>
          <p:nvPr/>
        </p:nvSpPr>
        <p:spPr>
          <a:xfrm>
            <a:off x="620000" y="3640000"/>
            <a:ext cx="320000" cy="32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50000" y="3610000"/>
            <a:ext cx="5200000" cy="5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350" b="0">
                <a:solidFill>
                  <a:srgbClr val="161A1D"/>
                </a:solidFill>
              </a:rPr>
              <a:t>Submission decision can move to minor fixes once all figures and supplement tables are synchronized</a:t>
            </a:r>
            <a:endParaRPr lang="en-US" sz="1350"/>
          </a:p>
        </p:txBody>
      </p:sp>
      <p:sp>
        <p:nvSpPr>
          <p:cNvPr id="20" name="Box 20"/>
          <p:cNvSpPr/>
          <p:nvPr/>
        </p:nvSpPr>
        <p:spPr>
          <a:xfrm>
            <a:off x="6650000" y="1500000"/>
            <a:ext cx="1750000" cy="430000"/>
          </a:xfrm>
          <a:prstGeom prst="roundRect">
            <a:avLst/>
          </a:prstGeom>
          <a:solidFill>
            <a:srgbClr val="007980"/>
          </a:solidFill>
          <a:ln>
            <a:solidFill>
              <a:srgbClr val="007980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Ready evidence</a:t>
            </a:r>
          </a:p>
        </p:txBody>
      </p:sp>
      <p:sp>
        <p:nvSpPr>
          <p:cNvPr id="21" name="Box 21"/>
          <p:cNvSpPr/>
          <p:nvPr/>
        </p:nvSpPr>
        <p:spPr>
          <a:xfrm>
            <a:off x="8750000" y="1500000"/>
            <a:ext cx="1750000" cy="430000"/>
          </a:xfrm>
          <a:prstGeom prst="roundRect">
            <a:avLst/>
          </a:prstGeom>
          <a:solidFill>
            <a:srgbClr val="B8860B"/>
          </a:solidFill>
          <a:ln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Needs polish</a:t>
            </a:r>
          </a:p>
        </p:txBody>
      </p:sp>
      <p:sp>
        <p:nvSpPr>
          <p:cNvPr id="22" name="Box 22"/>
          <p:cNvSpPr/>
          <p:nvPr/>
        </p:nvSpPr>
        <p:spPr>
          <a:xfrm>
            <a:off x="6650000" y="2260000"/>
            <a:ext cx="1750000" cy="430000"/>
          </a:xfrm>
          <a:prstGeom prst="roundRect">
            <a:avLst/>
          </a:prstGeom>
          <a:solidFill>
            <a:srgbClr val="684A7C"/>
          </a:solidFill>
          <a:ln>
            <a:solidFill>
              <a:srgbClr val="684A7C"/>
            </a:solidFill>
          </a:ln>
        </p:spPr>
        <p:txBody>
          <a:bodyPr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Must fix before submission</a:t>
            </a:r>
          </a:p>
        </p:txBody>
      </p:sp>
      <p:sp>
        <p:nvSpPr>
          <p:cNvPr id="23" name="Box 23"/>
          <p:cNvSpPr/>
          <p:nvPr/>
        </p:nvSpPr>
        <p:spPr>
          <a:xfrm>
            <a:off x="7050000" y="5300000"/>
            <a:ext cx="3800000" cy="520000"/>
          </a:xfrm>
          <a:prstGeom prst="roundRect">
            <a:avLst/>
          </a:prstGeom>
          <a:solidFill>
            <a:srgbClr val="1C2B3A"/>
          </a:solidFill>
          <a:ln>
            <a:solidFill>
              <a:srgbClr val="1C2B3A"/>
            </a:solidFill>
          </a:ln>
        </p:spPr>
        <p:txBody>
          <a:bodyPr anchor="ctr"/>
          <a:lstStyle/>
          <a:p>
            <a:pPr algn="ctr"/>
            <a:r>
              <a:rPr lang="en-US" sz="1250" b="1">
                <a:solidFill>
                  <a:srgbClr val="FFFFFF"/>
                </a:solidFill>
              </a:rPr>
              <a:t>Claim -&gt; artifact -&gt; gate -&gt; residual risk</a:t>
            </a:r>
          </a:p>
        </p:txBody>
      </p:sp>
    </p:spTree>
  </p:cSld>
  <p:clrMapOvr>
    <a:masterClrMapping/>
  </p:clrMapOvr>
</p:sld>
</file>