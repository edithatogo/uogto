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806D-BCEA-A64A-42F9-C19C37261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539F6-853C-679D-5361-CA618C711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F265F-4F51-7315-145A-1A476562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9C6C-A26E-39DD-E3AE-18FFD7CD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80A9A-8048-1AB6-43C5-9FA29CB5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2247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8F1D-C1D5-B2FD-4F53-082DAF2C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696B1-E7F1-6541-5716-FD0A18BA5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A85D4-D73E-84CE-88C4-27DC9238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54E72-1528-E719-7B9D-90EE1833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B6B0F-47B9-775E-39A2-0EE24F43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4502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7A24D-0F2D-B9CD-902C-56DACD2D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1FE30-B60F-D9B5-591D-1ADFC748B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A86B4-4FDA-D5F4-BF19-089B2447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7A4A3-3AC4-7D86-C4FA-3B9116C4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C384-B299-1604-710D-E210F3F1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8639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5857-8703-ED8D-5B64-EB7CBF48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DF712-CFE4-7D5B-5CA3-7F95496FC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92EC0-54B1-B931-9ABA-89341F377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1904B-29EF-D662-38A2-DC98E75B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8B559-6C9B-9A49-41AE-EE96124C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0F765-B00B-FD94-A2EB-13D3F99F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6516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76A6-30A7-9051-7060-DB0C48DC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41EEA-03E3-77E8-98B1-0015467A9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F76B-B920-21F9-963E-87C817BA7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8EFD9-D5CA-8096-4A94-887E264CC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E76F8-1395-EEC1-C56D-947C115F4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6F147-E0CA-CC3B-7D3E-646D85C8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1E1B4-1E38-FB77-0A8B-DA00D9E7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A6F1E-0F03-D0E5-3DB3-251C9EFA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5157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B830-8919-243C-32EB-FADEBF9F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539B4-BDE6-F22D-539E-CB1DC803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B4566-441F-0669-7577-B9298897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424BF-6E62-9379-21CA-66EDFE31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8172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77D8B-904E-53B7-9CC6-F8BFDE09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1F5DC-474E-D018-0CEE-EEFF7B80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DCB75-4890-61CC-476C-46C869F7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363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8E79-D426-2DB5-9435-82BE77A4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834F-722B-BEBF-AB59-9F60A871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41EE4-4F76-2440-9040-FD389AF50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2C136-0AAC-64A3-015C-D475CDE7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145D2-0FF9-A58C-6DE9-A7875BC1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CA095-05CB-DEB4-D79D-A3F87429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0410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0640-384E-770F-4115-8B15D278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2101B-2646-7904-AD14-E03ED40CE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DFE5F-11D6-BC16-F8E8-500547013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16B75-4A7D-D8A2-BB4D-37E553A9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5F68A-806F-76DA-238E-26A475B4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EE23E-C52E-1337-C905-112D0399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6820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5C8F-1F33-D0E9-CD1E-3000832A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698E9-4B8A-0BDD-19C7-A9876233C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6620-1DD2-6095-BA16-CD39847A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5514-E4EB-F7A7-1F72-09F04D0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6830F-3B4B-BCE6-7C66-00BA1E5D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035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F6723E-6A6A-014F-8C1D-8BF3723B6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9FA86-1E8B-1DE7-57EF-09DCDC0A3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8A6D9-61DF-6CCF-9746-FD66F191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188E-0AA7-59DA-A57B-63DEE5F4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D8C7E-2F62-7DC9-AB34-B5914182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8368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3B9CB-C4BF-7747-48A4-C4352C75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CE9CE-A718-EAE9-9610-56FF5CFD2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F24D1-0099-3328-492F-8D747D2B4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548D3-185F-4D4D-9FBE-3E1F2990237D}" type="datetimeFigureOut">
              <a:rPr lang="en-NZ" smtClean="0"/>
              <a:t>25/06/2026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59190-CC32-C2E9-E598-8B0ABB69F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3602F-545A-2A07-F90C-276D34C6C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A2284-8AC6-492C-B047-5398E38E8EB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368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F0485-9D21-3320-513A-531F901DE179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NATURE PRESUBMISSION BRIEFING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90358-63C7-19D8-CAB3-3471268BEC20}"/>
              </a:ext>
            </a:extLst>
          </p:cNvPr>
          <p:cNvSpPr txBox="1"/>
          <p:nvPr/>
        </p:nvSpPr>
        <p:spPr>
          <a:xfrm>
            <a:off x="558800" y="685800"/>
            <a:ext cx="7747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UOGTO: evidence-grade semantics for game-theoretic systems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C9F41-A503-EC5D-DBFF-7A3123A19771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A modular semantic layer links games, mechanisms, simulations, traces, mappings, and reusable publication artefacts.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3426F-978D-62FB-0D69-8696FD7A4E2E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01/08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7394A-4217-17C2-3AE0-7D8E068BB36A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875D0A-8D95-F22F-FA1C-32D3E2A3D923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1F453-B864-0648-FEFF-2D5FA8B53DF5}"/>
              </a:ext>
            </a:extLst>
          </p:cNvPr>
          <p:cNvSpPr txBox="1"/>
          <p:nvPr/>
        </p:nvSpPr>
        <p:spPr>
          <a:xfrm>
            <a:off x="1168400" y="2260600"/>
            <a:ext cx="469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Core claim: reusable semantics for strategic and executable systems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E0752E-5E70-25E7-C735-CB6EA3437FB1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C1BA8-D306-A964-2199-64401466AA8D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1200">
                <a:solidFill>
                  <a:srgbClr val="333333"/>
                </a:solidFill>
                <a:latin typeface="Aptos" panose="020B0004020202020204" pitchFamily="34" charset="0"/>
              </a:rPr>
              <a:t>Evidence posture: conservative mappings, validated examples, auditable source register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FBCAD0-534E-522E-DDB9-7EA487A8397A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CCE72-DEA2-6F1C-B880-E8D4C3B48ACF}"/>
              </a:ext>
            </a:extLst>
          </p:cNvPr>
          <p:cNvSpPr txBox="1"/>
          <p:nvPr/>
        </p:nvSpPr>
        <p:spPr>
          <a:xfrm>
            <a:off x="1168400" y="39878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Decision ask: final freeze-and-verify; supplement, privacy audit, and figure loop are complete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C4DF87-5C8B-3046-E3CD-5A5C6EE940F8}"/>
              </a:ext>
            </a:extLst>
          </p:cNvPr>
          <p:cNvSpPr/>
          <p:nvPr/>
        </p:nvSpPr>
        <p:spPr>
          <a:xfrm>
            <a:off x="6451600" y="2413000"/>
            <a:ext cx="4445000" cy="1727200"/>
          </a:xfrm>
          <a:prstGeom prst="roundRect">
            <a:avLst/>
          </a:prstGeom>
          <a:solidFill>
            <a:srgbClr val="F0FFF0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AU" sz="1100" b="1">
                <a:solidFill>
                  <a:srgbClr val="333333"/>
                </a:solidFill>
                <a:latin typeface="Aptos" panose="020B0004020202020204" pitchFamily="34" charset="0"/>
              </a:rPr>
              <a:t>Current gate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Remote CI green on validation, manuscript PDF, WIDOCO, and arXiv. Remaining deck work is readability polish and final claim freeze.</a:t>
            </a:r>
            <a:endParaRPr lang="en-NZ" sz="11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29AC4F-017E-7BA0-247F-4D4A7257EC2D}"/>
              </a:ext>
            </a:extLst>
          </p:cNvPr>
          <p:cNvSpPr/>
          <p:nvPr/>
        </p:nvSpPr>
        <p:spPr>
          <a:xfrm>
            <a:off x="6451600" y="4508500"/>
            <a:ext cx="19685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Ontology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1CEAFA-2C14-C059-348C-D277DC30EC8A}"/>
              </a:ext>
            </a:extLst>
          </p:cNvPr>
          <p:cNvSpPr/>
          <p:nvPr/>
        </p:nvSpPr>
        <p:spPr>
          <a:xfrm>
            <a:off x="8610600" y="4508500"/>
            <a:ext cx="19685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120EFF-3EEE-B05C-E505-547D5C0B13B4}"/>
              </a:ext>
            </a:extLst>
          </p:cNvPr>
          <p:cNvSpPr/>
          <p:nvPr/>
        </p:nvSpPr>
        <p:spPr>
          <a:xfrm>
            <a:off x="6451600" y="5092700"/>
            <a:ext cx="19685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SSSOM mappings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61DFCF-9278-7D76-4199-9BA6D39516B7}"/>
              </a:ext>
            </a:extLst>
          </p:cNvPr>
          <p:cNvSpPr/>
          <p:nvPr/>
        </p:nvSpPr>
        <p:spPr>
          <a:xfrm>
            <a:off x="8610600" y="5092700"/>
            <a:ext cx="19685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Reproducibility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732BE3-D697-1E81-30F3-2C58F14FC2F4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2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D205BC-36D3-377E-04ED-CFFE1C38BB38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GAP AND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7F810-3453-744A-0EB7-993CC29CE8E8}"/>
              </a:ext>
            </a:extLst>
          </p:cNvPr>
          <p:cNvSpPr txBox="1"/>
          <p:nvPr/>
        </p:nvSpPr>
        <p:spPr>
          <a:xfrm>
            <a:off x="558800" y="685800"/>
            <a:ext cx="7747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Problem: modelling languages do not share reviewable semantics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4EE67-E2FB-331C-11E9-EC1A7A15BEB5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Game theory, simulation, MARL, mechanisms, and institutional models use overlapping ideas but rarely expose them as interoperable ontology evidence.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B8E02-5825-A920-6823-A54D24E5BFC2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02/08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09685-FA45-2B06-9A5D-5FA2665D0920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9973CC-2DFC-715A-F6AA-2DA0A3D46ED1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63B23-619F-C454-BEA5-4CA2BBF0E405}"/>
              </a:ext>
            </a:extLst>
          </p:cNvPr>
          <p:cNvSpPr txBox="1"/>
          <p:nvPr/>
        </p:nvSpPr>
        <p:spPr>
          <a:xfrm>
            <a:off x="1168400" y="22606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Strategy, action, state, payoff, trace, and outcome drift across communities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D9F717-EAED-C04B-2538-E2BA09125777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ED6B3-73AA-F458-6E6B-6A316FF2A30A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Evidence is split across parsed RDF, structured non-RDF, metadata-only, literature-only, and negative evidence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D0CA20-CF34-B60A-0F37-800022E0EEDF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8810A-21E9-A51F-B17F-B338E22A4D32}"/>
              </a:ext>
            </a:extLst>
          </p:cNvPr>
          <p:cNvSpPr txBox="1"/>
          <p:nvPr/>
        </p:nvSpPr>
        <p:spPr>
          <a:xfrm>
            <a:off x="1168400" y="39878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Reviewers need a map from article claims to source, validation, mapping, and reproducibility artefacts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78C78E-E9AF-8091-FEB7-1DD55FB0E0BA}"/>
              </a:ext>
            </a:extLst>
          </p:cNvPr>
          <p:cNvSpPr/>
          <p:nvPr/>
        </p:nvSpPr>
        <p:spPr>
          <a:xfrm>
            <a:off x="6400800" y="2349500"/>
            <a:ext cx="4470400" cy="18034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AU" sz="1100" b="1">
                <a:solidFill>
                  <a:srgbClr val="333333"/>
                </a:solidFill>
                <a:latin typeface="Aptos" panose="020B0004020202020204" pitchFamily="34" charset="0"/>
              </a:rPr>
              <a:t>Comparator counts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21 source families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4,037 term rows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460 mapping candidates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10 accepted alignments</a:t>
            </a:r>
            <a:endParaRPr lang="en-NZ" sz="11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A9EC7D-7972-6F42-63EE-447683AA14BB}"/>
              </a:ext>
            </a:extLst>
          </p:cNvPr>
          <p:cNvSpPr/>
          <p:nvPr/>
        </p:nvSpPr>
        <p:spPr>
          <a:xfrm>
            <a:off x="6400800" y="4521200"/>
            <a:ext cx="20066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Parsed RDF: 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09C2A7-507E-4758-D3B2-0D38C83B6EA4}"/>
              </a:ext>
            </a:extLst>
          </p:cNvPr>
          <p:cNvSpPr/>
          <p:nvPr/>
        </p:nvSpPr>
        <p:spPr>
          <a:xfrm>
            <a:off x="8559800" y="4521200"/>
            <a:ext cx="231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Structured non-RDF: 18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8F7C7C-83CD-5C9F-BA9F-D43975DE6B56}"/>
              </a:ext>
            </a:extLst>
          </p:cNvPr>
          <p:cNvSpPr/>
          <p:nvPr/>
        </p:nvSpPr>
        <p:spPr>
          <a:xfrm>
            <a:off x="6400800" y="5105400"/>
            <a:ext cx="20066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Metadata-only: 15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F84970-A0E6-31A6-F120-B3146FC54797}"/>
              </a:ext>
            </a:extLst>
          </p:cNvPr>
          <p:cNvSpPr/>
          <p:nvPr/>
        </p:nvSpPr>
        <p:spPr>
          <a:xfrm>
            <a:off x="8559800" y="5105400"/>
            <a:ext cx="231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Literature-only: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4F7465-2388-1C20-7538-972AB5AEEAA6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96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086ED-E0D3-8DDD-B056-16103F28EF6A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ONTOLOGY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94D04-8265-E183-48B6-6467F38F257F}"/>
              </a:ext>
            </a:extLst>
          </p:cNvPr>
          <p:cNvSpPr txBox="1"/>
          <p:nvPr/>
        </p:nvSpPr>
        <p:spPr>
          <a:xfrm>
            <a:off x="558800" y="685800"/>
            <a:ext cx="7747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Architecture separates specification, execution, and evidence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381D8-9EF5-BA82-7D5B-324B73693B23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UOGTO models game specifications, sessions, traces, strategies, actions, payoffs, outcomes, mechanisms, and execution bindings as distinct review surfaces.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88D27-0A37-1EF2-F94D-0ED3248CAD20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03/08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F6661-A266-2FA5-D34F-3F113088EED5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34409F-B513-269A-C418-66043C9AA232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96E25-B0E0-47F5-E41B-CDDBB348AA8E}"/>
              </a:ext>
            </a:extLst>
          </p:cNvPr>
          <p:cNvSpPr txBox="1"/>
          <p:nvPr/>
        </p:nvSpPr>
        <p:spPr>
          <a:xfrm>
            <a:off x="1168400" y="2260600"/>
            <a:ext cx="469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1200">
                <a:solidFill>
                  <a:srgbClr val="333333"/>
                </a:solidFill>
                <a:latin typeface="Aptos" panose="020B0004020202020204" pitchFamily="34" charset="0"/>
              </a:rPr>
              <a:t>Core namespace: https://w3id.org/uogto/core#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E0E990-E3B1-B267-BF5B-2E0BC71CFDC1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34453-AEEF-E46A-A023-985DCDC2E029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Extensions cover classical, cooperative, MARL, network, mechanism, social-choice, deontic, contract, and executable modules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5D3F94-8E02-198E-A891-F206BEA5C956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0A087-2AEC-E170-BB03-A9C1EDBF35FD}"/>
              </a:ext>
            </a:extLst>
          </p:cNvPr>
          <p:cNvSpPr txBox="1"/>
          <p:nvPr/>
        </p:nvSpPr>
        <p:spPr>
          <a:xfrm>
            <a:off x="1168400" y="39878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Governance metadata, term changelog, deprecation policy, modelling decisions, and Supplementary Table S3 support reuse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AC8D27-9226-D72A-7BCC-6B858B99E44F}"/>
              </a:ext>
            </a:extLst>
          </p:cNvPr>
          <p:cNvSpPr/>
          <p:nvPr/>
        </p:nvSpPr>
        <p:spPr>
          <a:xfrm>
            <a:off x="6350000" y="2336800"/>
            <a:ext cx="4546600" cy="1651000"/>
          </a:xfrm>
          <a:prstGeom prst="roundRect">
            <a:avLst/>
          </a:prstGeom>
          <a:solidFill>
            <a:srgbClr val="F0FFF0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AU" sz="1100" b="1">
                <a:solidFill>
                  <a:srgbClr val="333333"/>
                </a:solidFill>
                <a:latin typeface="Aptos" panose="020B0004020202020204" pitchFamily="34" charset="0"/>
              </a:rPr>
              <a:t>Supplementary Table S3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Module audit links labels, definitions, SHACL, examples, competency questions, OWL profile, and reasoner status.</a:t>
            </a:r>
            <a:endParaRPr lang="en-NZ" sz="11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BC88EC-432C-A842-6770-E7E08A4D505D}"/>
              </a:ext>
            </a:extLst>
          </p:cNvPr>
          <p:cNvSpPr/>
          <p:nvPr/>
        </p:nvSpPr>
        <p:spPr>
          <a:xfrm>
            <a:off x="6350000" y="43942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Specification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878950-4FCD-6B33-2D8D-18FA867E5B43}"/>
              </a:ext>
            </a:extLst>
          </p:cNvPr>
          <p:cNvSpPr/>
          <p:nvPr/>
        </p:nvSpPr>
        <p:spPr>
          <a:xfrm>
            <a:off x="7493000" y="43942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Session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FE64CC-8670-66DA-798B-19D8E4514BB9}"/>
              </a:ext>
            </a:extLst>
          </p:cNvPr>
          <p:cNvSpPr/>
          <p:nvPr/>
        </p:nvSpPr>
        <p:spPr>
          <a:xfrm>
            <a:off x="8636000" y="43942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Trace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BAD3AF8-1EF6-DE5B-F7A4-1E75F4CCEC04}"/>
              </a:ext>
            </a:extLst>
          </p:cNvPr>
          <p:cNvSpPr/>
          <p:nvPr/>
        </p:nvSpPr>
        <p:spPr>
          <a:xfrm>
            <a:off x="9779000" y="43942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Strategy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37F41B-B715-14B3-AD73-003175758B6D}"/>
              </a:ext>
            </a:extLst>
          </p:cNvPr>
          <p:cNvSpPr/>
          <p:nvPr/>
        </p:nvSpPr>
        <p:spPr>
          <a:xfrm>
            <a:off x="6350000" y="4978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Action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DBACD57-DCD1-E631-EA02-9001B9232F33}"/>
              </a:ext>
            </a:extLst>
          </p:cNvPr>
          <p:cNvSpPr/>
          <p:nvPr/>
        </p:nvSpPr>
        <p:spPr>
          <a:xfrm>
            <a:off x="7493000" y="4978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Payoff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488757-90EB-9DE2-861A-4E5DED9A5247}"/>
              </a:ext>
            </a:extLst>
          </p:cNvPr>
          <p:cNvSpPr/>
          <p:nvPr/>
        </p:nvSpPr>
        <p:spPr>
          <a:xfrm>
            <a:off x="8636000" y="4978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Outcome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117D04-A4A7-9935-DABE-9A15CEF408CF}"/>
              </a:ext>
            </a:extLst>
          </p:cNvPr>
          <p:cNvSpPr/>
          <p:nvPr/>
        </p:nvSpPr>
        <p:spPr>
          <a:xfrm>
            <a:off x="9779000" y="4978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Binding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FF386-8457-41D3-ABF2-B88494CA0DA1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64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6234C-FD2E-E130-F1A7-BE08BC9A2D2F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PROTOCOL AND SOURCE DISCOVERY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039D7-B9BC-F22E-72B4-EB6D8603298A}"/>
              </a:ext>
            </a:extLst>
          </p:cNvPr>
          <p:cNvSpPr txBox="1"/>
          <p:nvPr/>
        </p:nvSpPr>
        <p:spPr>
          <a:xfrm>
            <a:off x="558800" y="685800"/>
            <a:ext cx="7747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Evidence register makes discovery auditable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5432B-996F-BF58-F04A-DB1706A7AB58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The supplement links PRISMA-ScR protocol surfaces to the append-only evidence register, source inventory, and Supplementary Figures S1-S2.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87F25-253F-BD66-C6D6-EF676912A262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04/08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BC8D50-29F9-AE3D-3DAB-E20FBDF8E8CB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D48789-D72B-EB7D-EC27-9254F65C9B2D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E9042-2FF8-3586-0635-E928E8B6770A}"/>
              </a:ext>
            </a:extLst>
          </p:cNvPr>
          <p:cNvSpPr txBox="1"/>
          <p:nvPr/>
        </p:nvSpPr>
        <p:spPr>
          <a:xfrm>
            <a:off x="1168400" y="22606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search-log.jsonl records query, result count, evidence level, rationale, licence, and handoff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12A474-3C11-8CC6-0756-E6876D658019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93E94-521F-9642-25AC-19E075602558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source-extension-inventory separates parsed RDF, structured non-RDF, metadata-only, literature-only, excluded, and negative evidence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15EEEC-FE47-1B6F-07E5-B813CB528469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94E300-313B-BAB6-9A20-EA4557BBDAC4}"/>
              </a:ext>
            </a:extLst>
          </p:cNvPr>
          <p:cNvSpPr txBox="1"/>
          <p:nvPr/>
        </p:nvSpPr>
        <p:spPr>
          <a:xfrm>
            <a:off x="1168400" y="3987800"/>
            <a:ext cx="469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Dual-screening and red-team lanes make overclaiming visible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0D852C-4EA9-2BB0-FC03-7A28966B953B}"/>
              </a:ext>
            </a:extLst>
          </p:cNvPr>
          <p:cNvSpPr/>
          <p:nvPr/>
        </p:nvSpPr>
        <p:spPr>
          <a:xfrm>
            <a:off x="6350000" y="2260600"/>
            <a:ext cx="4216400" cy="27432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NZ" sz="1100" b="1">
                <a:solidFill>
                  <a:srgbClr val="333333"/>
                </a:solidFill>
                <a:latin typeface="Aptos" panose="020B0004020202020204" pitchFamily="34" charset="0"/>
              </a:rPr>
              <a:t>Figure/table callout</a:t>
            </a:r>
          </a:p>
          <a:p>
            <a:pPr algn="ctr"/>
            <a:r>
              <a:rPr lang="en-NZ" sz="1100">
                <a:solidFill>
                  <a:srgbClr val="333333"/>
                </a:solidFill>
                <a:latin typeface="Aptos" panose="020B0004020202020204" pitchFamily="34" charset="0"/>
              </a:rPr>
              <a:t>Repository figure: docs\article-hardening\figures\prisma-2020-source-discovery-flow.svg</a:t>
            </a:r>
          </a:p>
          <a:p>
            <a:pPr algn="ctr"/>
            <a:r>
              <a:rPr lang="en-NZ" sz="1100">
                <a:solidFill>
                  <a:srgbClr val="333333"/>
                </a:solidFill>
                <a:latin typeface="Aptos" panose="020B0004020202020204" pitchFamily="34" charset="0"/>
              </a:rPr>
              <a:t>Supplementary Fig. S1: PRISMA-style source discovery flow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52D8BA-0D4A-1746-2DA4-28F6D3B062B9}"/>
              </a:ext>
            </a:extLst>
          </p:cNvPr>
          <p:cNvSpPr/>
          <p:nvPr/>
        </p:nvSpPr>
        <p:spPr>
          <a:xfrm>
            <a:off x="6350000" y="5257800"/>
            <a:ext cx="19685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Fig S1 discovery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1AAA95-5558-44AC-BCE5-B0D8713A472A}"/>
              </a:ext>
            </a:extLst>
          </p:cNvPr>
          <p:cNvSpPr/>
          <p:nvPr/>
        </p:nvSpPr>
        <p:spPr>
          <a:xfrm>
            <a:off x="8534400" y="5257800"/>
            <a:ext cx="19685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Fig S2 screening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5D96ED-6D23-7DC9-8DB2-CCC3CCB49412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526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60577-3298-D990-1D3B-AB7CF87252C1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MAPPING AND ROBUSTNESS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E5EA4-A19A-FBD2-01C6-863AA51D3812}"/>
              </a:ext>
            </a:extLst>
          </p:cNvPr>
          <p:cNvSpPr txBox="1"/>
          <p:nvPr/>
        </p:nvSpPr>
        <p:spPr>
          <a:xfrm>
            <a:off x="558800" y="685800"/>
            <a:ext cx="7747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Mappings are conservative and inspectable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120FB-1788-28BF-28BA-0381DDFB79F3}"/>
              </a:ext>
            </a:extLst>
          </p:cNvPr>
          <p:cNvSpPr txBox="1"/>
          <p:nvPr/>
        </p:nvSpPr>
        <p:spPr>
          <a:xfrm>
            <a:off x="558800" y="1320800"/>
            <a:ext cx="762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The mapping package supports bridge analysis, not universal equivalence claims.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71A45-BC4B-AFEB-4CCA-6B371CCF0179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05/08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1AD823-0995-BEB7-026A-E6EBA831E966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AC0EB7-3303-FBE3-B8FA-57AC7C5C56BE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ED2B7-5F3C-045F-F454-59994B8D7AB8}"/>
              </a:ext>
            </a:extLst>
          </p:cNvPr>
          <p:cNvSpPr txBox="1"/>
          <p:nvPr/>
        </p:nvSpPr>
        <p:spPr>
          <a:xfrm>
            <a:off x="1168400" y="2260600"/>
            <a:ext cx="469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21 candidate sources, 4,037 term rows, 460 candidate mappings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96D1EF-C70A-8491-5D5F-75C2F8B94E05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2F467-B950-C8F6-FC69-4B75C4603D41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Accepted mappings are published as TTL and SSSOM TSV; rejected and domain-review rows remain visible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6ADDA6-6EA5-FCEE-F4E8-A1D5C75F3E27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E96CD-A776-BA6B-05C5-298203626736}"/>
              </a:ext>
            </a:extLst>
          </p:cNvPr>
          <p:cNvSpPr txBox="1"/>
          <p:nvPr/>
        </p:nvSpPr>
        <p:spPr>
          <a:xfrm>
            <a:off x="1168400" y="39878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Robustness checks ablate labels, definitions, hierarchy, property signatures, and embeddings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A63779-D62A-EB8D-8AF9-38C91D4C94C1}"/>
              </a:ext>
            </a:extLst>
          </p:cNvPr>
          <p:cNvSpPr/>
          <p:nvPr/>
        </p:nvSpPr>
        <p:spPr>
          <a:xfrm>
            <a:off x="6350000" y="2260600"/>
            <a:ext cx="4292600" cy="27432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AU" sz="1100" b="1">
                <a:solidFill>
                  <a:srgbClr val="333333"/>
                </a:solidFill>
                <a:latin typeface="Aptos" panose="020B0004020202020204" pitchFamily="34" charset="0"/>
              </a:rPr>
              <a:t>Figure/table callout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Repository figure: docs\ontology-comparison\figures\mapping_flow_sankey.svg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Supplementary Fig. S4: candidate-to-review-to-alignment flow</a:t>
            </a:r>
            <a:endParaRPr lang="en-NZ" sz="11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105EB0-FDCB-3C09-1B9A-0D3C3CBFFCA2}"/>
              </a:ext>
            </a:extLst>
          </p:cNvPr>
          <p:cNvSpPr/>
          <p:nvPr/>
        </p:nvSpPr>
        <p:spPr>
          <a:xfrm>
            <a:off x="6350000" y="5257800"/>
            <a:ext cx="1168400" cy="431800"/>
          </a:xfrm>
          <a:prstGeom prst="roundRect">
            <a:avLst/>
          </a:prstGeom>
          <a:solidFill>
            <a:srgbClr val="F0FFF0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10 accepted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E98676-5BA2-DE3B-62F8-8ED19BE1A0D0}"/>
              </a:ext>
            </a:extLst>
          </p:cNvPr>
          <p:cNvSpPr/>
          <p:nvPr/>
        </p:nvSpPr>
        <p:spPr>
          <a:xfrm>
            <a:off x="7670800" y="5257800"/>
            <a:ext cx="1270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449 rejected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A9F70D-6219-9B3C-FCE5-DA1DDA36C5A4}"/>
              </a:ext>
            </a:extLst>
          </p:cNvPr>
          <p:cNvSpPr/>
          <p:nvPr/>
        </p:nvSpPr>
        <p:spPr>
          <a:xfrm>
            <a:off x="9093200" y="5257800"/>
            <a:ext cx="14732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1 domain review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42D3AF-8252-4F50-14AE-458A7D98CAE1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6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0AD88-5AF9-60FB-EBF3-BCE64E976738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DEMONSTRATION COVERAGE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3D81A-5EBC-59EE-B01E-7C9C30B69F15}"/>
              </a:ext>
            </a:extLst>
          </p:cNvPr>
          <p:cNvSpPr txBox="1"/>
          <p:nvPr/>
        </p:nvSpPr>
        <p:spPr>
          <a:xfrm>
            <a:off x="558800" y="685800"/>
            <a:ext cx="7747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Case studies exercise strategic and executable semantics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87D7C-8323-1DAD-E9ED-D800E47A145D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The article package shows UOGTO across mechanisms, social choice, security, MARL, ABM, system dynamics, LLM-agent games, and executable traces.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AD3AF-C30D-D909-390C-A46B6ABCB753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06/08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4540F-2675-08E2-87F5-ADF6AA33693C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DB97FC-284F-A5FC-CA10-70EB47D3797C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35B17-08D1-3908-8958-597A00A5D623}"/>
              </a:ext>
            </a:extLst>
          </p:cNvPr>
          <p:cNvSpPr txBox="1"/>
          <p:nvPr/>
        </p:nvSpPr>
        <p:spPr>
          <a:xfrm>
            <a:off x="1168400" y="22606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Use the broader supplement matrix; highlight executable trace/provenance as the differentiating case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924893-5F7A-524F-29B2-565C6EE4B4B3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0270B-9A9E-A8FE-A440-9E55080CDDF0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Trace case links PlaySession to action history, ProvenanceTrace, and CQ08 validation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D51242-74D4-2065-0AC5-4318E4C8454F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540507-D217-4828-E5FB-4B9CFBD1CFAD}"/>
              </a:ext>
            </a:extLst>
          </p:cNvPr>
          <p:cNvSpPr txBox="1"/>
          <p:nvPr/>
        </p:nvSpPr>
        <p:spPr>
          <a:xfrm>
            <a:off x="1168400" y="3987800"/>
            <a:ext cx="469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Missing game-theory elements are triaged before ontology expansion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6D8486-FCCF-6A0B-6C9B-38DBDFDE2EBA}"/>
              </a:ext>
            </a:extLst>
          </p:cNvPr>
          <p:cNvSpPr/>
          <p:nvPr/>
        </p:nvSpPr>
        <p:spPr>
          <a:xfrm>
            <a:off x="6350000" y="2260600"/>
            <a:ext cx="4445000" cy="2133600"/>
          </a:xfrm>
          <a:prstGeom prst="roundRect">
            <a:avLst/>
          </a:prstGeom>
          <a:solidFill>
            <a:srgbClr val="F0FFF0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AU" sz="1100" b="1">
                <a:solidFill>
                  <a:srgbClr val="333333"/>
                </a:solidFill>
                <a:latin typeface="Aptos" panose="020B0004020202020204" pitchFamily="34" charset="0"/>
              </a:rPr>
              <a:t>Executable trace evidence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use-case: executable_trace_provenance_case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term: ProvenanceTrace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query: cq08 executable event traces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example: Petri-net execution game</a:t>
            </a:r>
            <a:endParaRPr lang="en-NZ" sz="11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6D6778-0C1C-CA38-FF0F-50B4C7F8875D}"/>
              </a:ext>
            </a:extLst>
          </p:cNvPr>
          <p:cNvSpPr/>
          <p:nvPr/>
        </p:nvSpPr>
        <p:spPr>
          <a:xfrm>
            <a:off x="6350000" y="4851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Auction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8A86E2-E4A6-3BD7-954D-953C9981220E}"/>
              </a:ext>
            </a:extLst>
          </p:cNvPr>
          <p:cNvSpPr/>
          <p:nvPr/>
        </p:nvSpPr>
        <p:spPr>
          <a:xfrm>
            <a:off x="7493000" y="4851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Voting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BFF61C-72DE-836D-81AB-DAE6377A4CC3}"/>
              </a:ext>
            </a:extLst>
          </p:cNvPr>
          <p:cNvSpPr/>
          <p:nvPr/>
        </p:nvSpPr>
        <p:spPr>
          <a:xfrm>
            <a:off x="8636000" y="4851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Security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F5496E6-3A32-8E85-0906-FF20AC8328B3}"/>
              </a:ext>
            </a:extLst>
          </p:cNvPr>
          <p:cNvSpPr/>
          <p:nvPr/>
        </p:nvSpPr>
        <p:spPr>
          <a:xfrm>
            <a:off x="9779000" y="48514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MARL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0ACA81-A69E-13BE-ACBF-E275AD34B9FD}"/>
              </a:ext>
            </a:extLst>
          </p:cNvPr>
          <p:cNvSpPr/>
          <p:nvPr/>
        </p:nvSpPr>
        <p:spPr>
          <a:xfrm>
            <a:off x="6350000" y="54356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ABM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D22D27-D19F-8FEB-63C4-09C3C9879692}"/>
              </a:ext>
            </a:extLst>
          </p:cNvPr>
          <p:cNvSpPr/>
          <p:nvPr/>
        </p:nvSpPr>
        <p:spPr>
          <a:xfrm>
            <a:off x="7493000" y="54356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System dynamics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4D40E54-7655-0491-F9B5-38E588E0ED60}"/>
              </a:ext>
            </a:extLst>
          </p:cNvPr>
          <p:cNvSpPr/>
          <p:nvPr/>
        </p:nvSpPr>
        <p:spPr>
          <a:xfrm>
            <a:off x="8636000" y="54356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LLM agents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C425EA-60F2-102D-27B6-6C26C093EE82}"/>
              </a:ext>
            </a:extLst>
          </p:cNvPr>
          <p:cNvSpPr/>
          <p:nvPr/>
        </p:nvSpPr>
        <p:spPr>
          <a:xfrm>
            <a:off x="9779000" y="5435600"/>
            <a:ext cx="10414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Trace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295BB9-82D4-3DDC-9F03-1E8C402278FB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25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A806D-9814-21B3-DEE8-45D6DBD228C2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REPRODUCIBILITY AND SUBMISSION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856E5-D6FC-F715-BCBD-3A904ABE61E5}"/>
              </a:ext>
            </a:extLst>
          </p:cNvPr>
          <p:cNvSpPr txBox="1"/>
          <p:nvPr/>
        </p:nvSpPr>
        <p:spPr>
          <a:xfrm>
            <a:off x="558800" y="685800"/>
            <a:ext cx="7747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FAIR package is ready for review, not just narrative claims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0E9A9-0C56-2A27-B777-5E34E623C8A1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RO-Crate, DuckDB design, SSSOM, SHACL, SourceRight, WIDOCO, Authentext, and arXiv checks form the reproducibility backbone.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0B24-224F-42AC-27C8-33BEAF387707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07/08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A98A8-1F32-5CA6-B193-5BC1F795802E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EEEEE4-7F9E-66F0-F0C1-0E1963930889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9D121-99AC-DB75-F9F1-C51EB75E5863}"/>
              </a:ext>
            </a:extLst>
          </p:cNvPr>
          <p:cNvSpPr txBox="1"/>
          <p:nvPr/>
        </p:nvSpPr>
        <p:spPr>
          <a:xfrm>
            <a:off x="1168400" y="2260600"/>
            <a:ext cx="469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RO-Crate metadata and dashboard surfaces expose validated artefacts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5FB9FA-AE64-A70C-31EE-07C83CC46AB8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62211-DCCF-6CDB-09BC-96FE123C1037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DuckDB design organizes sources, search logs, mappings, metrics, reviewer decisions, and figures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A8F7F6-D99D-0AC9-6F52-C5363AF04705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F4864-3F3B-0082-1CD6-19A490CC9F31}"/>
              </a:ext>
            </a:extLst>
          </p:cNvPr>
          <p:cNvSpPr txBox="1"/>
          <p:nvPr/>
        </p:nvSpPr>
        <p:spPr>
          <a:xfrm>
            <a:off x="1168400" y="39878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CI validates ontology, WIDOCO pages, manuscript PDF, and arXiv preflight; SourceRight and Authentext reports pass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932B44F-B12F-9DA6-0C8D-CEC00AEA964A}"/>
              </a:ext>
            </a:extLst>
          </p:cNvPr>
          <p:cNvSpPr/>
          <p:nvPr/>
        </p:nvSpPr>
        <p:spPr>
          <a:xfrm>
            <a:off x="6350000" y="2311400"/>
            <a:ext cx="4495800" cy="1803400"/>
          </a:xfrm>
          <a:prstGeom prst="roundRect">
            <a:avLst/>
          </a:prstGeom>
          <a:solidFill>
            <a:srgbClr val="F0FFF0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NZ" sz="1100" b="1">
                <a:solidFill>
                  <a:srgbClr val="333333"/>
                </a:solidFill>
                <a:latin typeface="Aptos" panose="020B0004020202020204" pitchFamily="34" charset="0"/>
              </a:rPr>
              <a:t>Submission gates</a:t>
            </a:r>
          </a:p>
          <a:p>
            <a:pPr algn="ctr"/>
            <a:r>
              <a:rPr lang="en-NZ" sz="1100">
                <a:solidFill>
                  <a:srgbClr val="333333"/>
                </a:solidFill>
                <a:latin typeface="Aptos" panose="020B0004020202020204" pitchFamily="34" charset="0"/>
              </a:rPr>
              <a:t>SourceRight: 11/11 citations matched, 0 issues</a:t>
            </a:r>
          </a:p>
          <a:p>
            <a:pPr algn="ctr"/>
            <a:r>
              <a:rPr lang="en-NZ" sz="1100">
                <a:solidFill>
                  <a:srgbClr val="333333"/>
                </a:solidFill>
                <a:latin typeface="Aptos" panose="020B0004020202020204" pitchFamily="34" charset="0"/>
              </a:rPr>
              <a:t>Authentext: supplement audit 0 findings</a:t>
            </a:r>
          </a:p>
          <a:p>
            <a:pPr algn="ctr"/>
            <a:r>
              <a:rPr lang="en-NZ" sz="1100">
                <a:solidFill>
                  <a:srgbClr val="333333"/>
                </a:solidFill>
                <a:latin typeface="Aptos" panose="020B0004020202020204" pitchFamily="34" charset="0"/>
              </a:rPr>
              <a:t>arXiv privacy audit: pass</a:t>
            </a:r>
          </a:p>
          <a:p>
            <a:pPr algn="ctr"/>
            <a:r>
              <a:rPr lang="en-NZ" sz="1100">
                <a:solidFill>
                  <a:srgbClr val="333333"/>
                </a:solidFill>
                <a:latin typeface="Aptos" panose="020B0004020202020204" pitchFamily="34" charset="0"/>
              </a:rPr>
              <a:t>CI: validation/PDF/WIDOCO/arXiv green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75B28C-BF7D-6C6B-4C79-81BBDB71021A}"/>
              </a:ext>
            </a:extLst>
          </p:cNvPr>
          <p:cNvSpPr/>
          <p:nvPr/>
        </p:nvSpPr>
        <p:spPr>
          <a:xfrm>
            <a:off x="6350000" y="4546600"/>
            <a:ext cx="1397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RO-Crate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54AB0C-27C6-0F46-CC98-F22FE57D76B9}"/>
              </a:ext>
            </a:extLst>
          </p:cNvPr>
          <p:cNvSpPr/>
          <p:nvPr/>
        </p:nvSpPr>
        <p:spPr>
          <a:xfrm>
            <a:off x="7848600" y="4546600"/>
            <a:ext cx="1397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DuckDB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485BF8-8D07-A64A-3A9C-38EDEBA0D812}"/>
              </a:ext>
            </a:extLst>
          </p:cNvPr>
          <p:cNvSpPr/>
          <p:nvPr/>
        </p:nvSpPr>
        <p:spPr>
          <a:xfrm>
            <a:off x="9347200" y="4546600"/>
            <a:ext cx="1397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SSSOM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830E14-D1A4-503A-DED7-EAA2359F6594}"/>
              </a:ext>
            </a:extLst>
          </p:cNvPr>
          <p:cNvSpPr/>
          <p:nvPr/>
        </p:nvSpPr>
        <p:spPr>
          <a:xfrm>
            <a:off x="6350000" y="5130800"/>
            <a:ext cx="1397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SHACL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F130F0-FB5D-BD62-A8AF-B966E1A37E70}"/>
              </a:ext>
            </a:extLst>
          </p:cNvPr>
          <p:cNvSpPr/>
          <p:nvPr/>
        </p:nvSpPr>
        <p:spPr>
          <a:xfrm>
            <a:off x="7848600" y="5130800"/>
            <a:ext cx="1397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SourceRight 0 issues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D04818-4FB5-7E04-B237-1608F3D4291B}"/>
              </a:ext>
            </a:extLst>
          </p:cNvPr>
          <p:cNvSpPr/>
          <p:nvPr/>
        </p:nvSpPr>
        <p:spPr>
          <a:xfrm>
            <a:off x="9347200" y="5130800"/>
            <a:ext cx="1397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Privacy audit pass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2DF93-D720-91E4-983B-DBB095A25C9D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29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CBF58-8937-D651-73E6-CD89045FAA88}"/>
              </a:ext>
            </a:extLst>
          </p:cNvPr>
          <p:cNvSpPr txBox="1"/>
          <p:nvPr/>
        </p:nvSpPr>
        <p:spPr>
          <a:xfrm>
            <a:off x="558800" y="381000"/>
            <a:ext cx="533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 b="1">
                <a:solidFill>
                  <a:srgbClr val="787878"/>
                </a:solidFill>
                <a:latin typeface="Aptos" panose="020B0004020202020204" pitchFamily="34" charset="0"/>
              </a:rPr>
              <a:t>LIMITATIONS AND NEXT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DD797-C07A-4BCA-8DB0-1EE35472204F}"/>
              </a:ext>
            </a:extLst>
          </p:cNvPr>
          <p:cNvSpPr txBox="1"/>
          <p:nvPr/>
        </p:nvSpPr>
        <p:spPr>
          <a:xfrm>
            <a:off x="558800" y="685800"/>
            <a:ext cx="7747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2500" b="1">
                <a:solidFill>
                  <a:srgbClr val="333333"/>
                </a:solidFill>
                <a:latin typeface="Aptos" panose="020B0004020202020204" pitchFamily="34" charset="0"/>
              </a:rPr>
              <a:t>Decision: final freeze-and-verify before submission</a:t>
            </a:r>
            <a:endParaRPr lang="en-NZ" sz="2500" b="1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BF105-6ADC-0419-3925-AE728FF87B61}"/>
              </a:ext>
            </a:extLst>
          </p:cNvPr>
          <p:cNvSpPr txBox="1"/>
          <p:nvPr/>
        </p:nvSpPr>
        <p:spPr>
          <a:xfrm>
            <a:off x="558800" y="1320800"/>
            <a:ext cx="76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300">
                <a:solidFill>
                  <a:srgbClr val="5D5D5D"/>
                </a:solidFill>
                <a:latin typeface="Aptos" panose="020B0004020202020204" pitchFamily="34" charset="0"/>
              </a:rPr>
              <a:t>The evidence package is implemented; submission readiness now depends on final copyedit, slide readability, and frozen figure/table numbering.</a:t>
            </a:r>
            <a:endParaRPr lang="en-NZ" sz="13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04391-5639-AD3F-6263-ABE7D56C946F}"/>
              </a:ext>
            </a:extLst>
          </p:cNvPr>
          <p:cNvSpPr txBox="1"/>
          <p:nvPr/>
        </p:nvSpPr>
        <p:spPr>
          <a:xfrm>
            <a:off x="11074400" y="406400"/>
            <a:ext cx="685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NZ" sz="900">
                <a:solidFill>
                  <a:srgbClr val="5D5D5D"/>
                </a:solidFill>
                <a:latin typeface="Aptos" panose="020B0004020202020204" pitchFamily="34" charset="0"/>
              </a:rPr>
              <a:t>08/08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B7EA8-C336-4238-6B59-41CA00A4336D}"/>
              </a:ext>
            </a:extLst>
          </p:cNvPr>
          <p:cNvSpPr/>
          <p:nvPr/>
        </p:nvSpPr>
        <p:spPr>
          <a:xfrm>
            <a:off x="558800" y="1917700"/>
            <a:ext cx="11074400" cy="1524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71FB85-572C-2CE7-5231-CDFCE24F699C}"/>
              </a:ext>
            </a:extLst>
          </p:cNvPr>
          <p:cNvSpPr/>
          <p:nvPr/>
        </p:nvSpPr>
        <p:spPr>
          <a:xfrm>
            <a:off x="660400" y="22860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4C413-9B4F-9CEB-E526-C38D2874A537}"/>
              </a:ext>
            </a:extLst>
          </p:cNvPr>
          <p:cNvSpPr txBox="1"/>
          <p:nvPr/>
        </p:nvSpPr>
        <p:spPr>
          <a:xfrm>
            <a:off x="1168400" y="22606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Completed: final supplement prose, SourceRight/Auth audits, privacy audit, figure loop, and article-facing tables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AB4EC2-2B5F-0065-0422-B0B8F5982C2F}"/>
              </a:ext>
            </a:extLst>
          </p:cNvPr>
          <p:cNvSpPr/>
          <p:nvPr/>
        </p:nvSpPr>
        <p:spPr>
          <a:xfrm>
            <a:off x="660400" y="31496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8CD0E-729C-6A27-DEAC-78AF7D269366}"/>
              </a:ext>
            </a:extLst>
          </p:cNvPr>
          <p:cNvSpPr txBox="1"/>
          <p:nvPr/>
        </p:nvSpPr>
        <p:spPr>
          <a:xfrm>
            <a:off x="1168400" y="31242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Remaining: final manuscript/supplement copyedit and PowerPoint thumbnail readability check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5A03A4-7B00-C65A-E07A-9D77587F097E}"/>
              </a:ext>
            </a:extLst>
          </p:cNvPr>
          <p:cNvSpPr/>
          <p:nvPr/>
        </p:nvSpPr>
        <p:spPr>
          <a:xfrm>
            <a:off x="660400" y="4013200"/>
            <a:ext cx="355600" cy="355600"/>
          </a:xfrm>
          <a:prstGeom prst="ellipse">
            <a:avLst/>
          </a:prstGeom>
          <a:solidFill>
            <a:srgbClr val="7878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F618EA-4B0A-D96E-AB02-484E0132F167}"/>
              </a:ext>
            </a:extLst>
          </p:cNvPr>
          <p:cNvSpPr txBox="1"/>
          <p:nvPr/>
        </p:nvSpPr>
        <p:spPr>
          <a:xfrm>
            <a:off x="1168400" y="3987800"/>
            <a:ext cx="469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1200">
                <a:solidFill>
                  <a:srgbClr val="333333"/>
                </a:solidFill>
                <a:latin typeface="Aptos" panose="020B0004020202020204" pitchFamily="34" charset="0"/>
              </a:rPr>
              <a:t>Decision can move to minor fixes after final freeze gate and deck thumbnails are accepted</a:t>
            </a:r>
            <a:endParaRPr lang="en-NZ" sz="12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65BDC4-B819-857B-01AE-E7ECAE148000}"/>
              </a:ext>
            </a:extLst>
          </p:cNvPr>
          <p:cNvSpPr/>
          <p:nvPr/>
        </p:nvSpPr>
        <p:spPr>
          <a:xfrm>
            <a:off x="6350000" y="2413000"/>
            <a:ext cx="449580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52400" rtlCol="0" anchor="ctr"/>
          <a:lstStyle/>
          <a:p>
            <a:pPr algn="ctr"/>
            <a:r>
              <a:rPr lang="en-AU" sz="1100" b="1">
                <a:solidFill>
                  <a:srgbClr val="333333"/>
                </a:solidFill>
                <a:latin typeface="Aptos" panose="020B0004020202020204" pitchFamily="34" charset="0"/>
              </a:rPr>
              <a:t>Residual risk</a:t>
            </a:r>
          </a:p>
          <a:p>
            <a:pPr algn="ctr"/>
            <a:r>
              <a:rPr lang="en-AU" sz="1100">
                <a:solidFill>
                  <a:srgbClr val="333333"/>
                </a:solidFill>
                <a:latin typeface="Aptos" panose="020B0004020202020204" pitchFamily="34" charset="0"/>
              </a:rPr>
              <a:t>Overclaim control during final copyedit. No active blocker remains for supplement prose, privacy audit, or manuscript/supplement figures.</a:t>
            </a:r>
            <a:endParaRPr lang="en-NZ" sz="11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B33BFA-2F3C-62B4-2DDF-F683AD4685B2}"/>
              </a:ext>
            </a:extLst>
          </p:cNvPr>
          <p:cNvSpPr/>
          <p:nvPr/>
        </p:nvSpPr>
        <p:spPr>
          <a:xfrm>
            <a:off x="6350000" y="4775200"/>
            <a:ext cx="1905000" cy="431800"/>
          </a:xfrm>
          <a:prstGeom prst="roundRect">
            <a:avLst/>
          </a:prstGeom>
          <a:solidFill>
            <a:srgbClr val="F0FFF0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Ready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29015E-1A51-48C5-4774-7FEEF1144023}"/>
              </a:ext>
            </a:extLst>
          </p:cNvPr>
          <p:cNvSpPr/>
          <p:nvPr/>
        </p:nvSpPr>
        <p:spPr>
          <a:xfrm>
            <a:off x="8458200" y="4775200"/>
            <a:ext cx="19050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Needs freeze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A8EEA1-2E31-FA4E-5FAC-00803F0703FC}"/>
              </a:ext>
            </a:extLst>
          </p:cNvPr>
          <p:cNvSpPr/>
          <p:nvPr/>
        </p:nvSpPr>
        <p:spPr>
          <a:xfrm>
            <a:off x="6350000" y="5359400"/>
            <a:ext cx="4013200" cy="431800"/>
          </a:xfrm>
          <a:prstGeom prst="roundRect">
            <a:avLst/>
          </a:prstGeom>
          <a:solidFill>
            <a:srgbClr val="F2F2F2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>
                <a:solidFill>
                  <a:srgbClr val="333333"/>
                </a:solidFill>
                <a:latin typeface="Aptos" panose="020B0004020202020204" pitchFamily="34" charset="0"/>
              </a:rPr>
              <a:t>Freeze-and-verify before submission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A0F04A-8FC5-D4CF-18B0-21DDDAAFA408}"/>
              </a:ext>
            </a:extLst>
          </p:cNvPr>
          <p:cNvSpPr txBox="1"/>
          <p:nvPr/>
        </p:nvSpPr>
        <p:spPr>
          <a:xfrm>
            <a:off x="558800" y="64262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AU" sz="800">
                <a:solidFill>
                  <a:srgbClr val="5D5D5D"/>
                </a:solidFill>
                <a:latin typeface="Aptos" panose="020B0004020202020204" pitchFamily="34" charset="0"/>
              </a:rPr>
              <a:t>Claim -&gt; artefact -&gt; gate -&gt; residual risk</a:t>
            </a:r>
            <a:endParaRPr lang="en-NZ" sz="800">
              <a:solidFill>
                <a:srgbClr val="5D5D5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PresentationFormat>Custom</PresentationFormat>
  <Paragraphs>153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Mordaunt (Illawarra Shoalhaven LHD)</dc:creator>
  <cp:lastModifiedBy>Dylan Mordaunt (Illawarra Shoalhaven LHD)</cp:lastModifiedBy>
  <cp:revision>1</cp:revision>
  <dcterms:created xsi:type="dcterms:W3CDTF">2026-06-25T10:40:21Z</dcterms:created>
  <dcterms:modified xsi:type="dcterms:W3CDTF">2026-06-25T10:40:21Z</dcterms:modified>
</cp:coreProperties>
</file>